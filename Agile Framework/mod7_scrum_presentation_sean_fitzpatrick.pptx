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59" r:id="rId4"/>
    <p:sldId id="260" r:id="rId5"/>
    <p:sldId id="261" r:id="rId6"/>
    <p:sldId id="262" r:id="rId7"/>
    <p:sldId id="25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A3AFA0-7473-42EB-801C-D58462C9ABF0}" type="datetimeFigureOut">
              <a:rPr lang="en-US" smtClean="0"/>
              <a:t>2/22/2025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149454-7291-4441-9D60-DBF64C58CC7C}" type="slidenum">
              <a:rPr lang="en-US" smtClean="0"/>
              <a:t>‹#›</a:t>
            </a:fld>
            <a:endParaRPr lang="en-US"/>
          </a:p>
        </p:txBody>
      </p:sp>
    </p:spTree>
    <p:extLst>
      <p:ext uri="{BB962C8B-B14F-4D97-AF65-F5344CB8AC3E}">
        <p14:creationId xmlns:p14="http://schemas.microsoft.com/office/powerpoint/2010/main" val="2355390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B1B04-FFD0-D0F4-526E-A859AF776A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4396EE-FAAC-B374-5D2C-414D0A6D89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9F8D79-1017-F7B6-440D-F48484F73124}"/>
              </a:ext>
            </a:extLst>
          </p:cNvPr>
          <p:cNvSpPr>
            <a:spLocks noGrp="1"/>
          </p:cNvSpPr>
          <p:nvPr>
            <p:ph type="dt" sz="half" idx="10"/>
          </p:nvPr>
        </p:nvSpPr>
        <p:spPr/>
        <p:txBody>
          <a:bodyPr/>
          <a:lstStyle/>
          <a:p>
            <a:fld id="{3DD295CE-F7AD-4E56-AA3F-FEBBA4C035BF}" type="datetimeFigureOut">
              <a:rPr lang="en-US" smtClean="0"/>
              <a:t>2/22/2025</a:t>
            </a:fld>
            <a:endParaRPr lang="en-US"/>
          </a:p>
        </p:txBody>
      </p:sp>
      <p:sp>
        <p:nvSpPr>
          <p:cNvPr id="5" name="Footer Placeholder 4">
            <a:extLst>
              <a:ext uri="{FF2B5EF4-FFF2-40B4-BE49-F238E27FC236}">
                <a16:creationId xmlns:a16="http://schemas.microsoft.com/office/drawing/2014/main" id="{B2EA6BBE-1E5A-401B-C0FC-EF8E3AC9A7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DE904-4DF9-EED6-7E5B-1A7E4C312286}"/>
              </a:ext>
            </a:extLst>
          </p:cNvPr>
          <p:cNvSpPr>
            <a:spLocks noGrp="1"/>
          </p:cNvSpPr>
          <p:nvPr>
            <p:ph type="sldNum" sz="quarter" idx="12"/>
          </p:nvPr>
        </p:nvSpPr>
        <p:spPr/>
        <p:txBody>
          <a:bodyPr/>
          <a:lstStyle/>
          <a:p>
            <a:fld id="{DD01CA0A-9865-49C7-90F3-2A18AAA94347}" type="slidenum">
              <a:rPr lang="en-US" smtClean="0"/>
              <a:t>‹#›</a:t>
            </a:fld>
            <a:endParaRPr lang="en-US"/>
          </a:p>
        </p:txBody>
      </p:sp>
    </p:spTree>
    <p:extLst>
      <p:ext uri="{BB962C8B-B14F-4D97-AF65-F5344CB8AC3E}">
        <p14:creationId xmlns:p14="http://schemas.microsoft.com/office/powerpoint/2010/main" val="1422301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99B8-2C36-F892-6BD5-BE0D9BD220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A5C15E-3907-CF38-28ED-4050639C00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70125C-9C88-007F-ABA1-129D38990105}"/>
              </a:ext>
            </a:extLst>
          </p:cNvPr>
          <p:cNvSpPr>
            <a:spLocks noGrp="1"/>
          </p:cNvSpPr>
          <p:nvPr>
            <p:ph type="dt" sz="half" idx="10"/>
          </p:nvPr>
        </p:nvSpPr>
        <p:spPr/>
        <p:txBody>
          <a:bodyPr/>
          <a:lstStyle/>
          <a:p>
            <a:fld id="{3DD295CE-F7AD-4E56-AA3F-FEBBA4C035BF}" type="datetimeFigureOut">
              <a:rPr lang="en-US" smtClean="0"/>
              <a:t>2/22/2025</a:t>
            </a:fld>
            <a:endParaRPr lang="en-US"/>
          </a:p>
        </p:txBody>
      </p:sp>
      <p:sp>
        <p:nvSpPr>
          <p:cNvPr id="5" name="Footer Placeholder 4">
            <a:extLst>
              <a:ext uri="{FF2B5EF4-FFF2-40B4-BE49-F238E27FC236}">
                <a16:creationId xmlns:a16="http://schemas.microsoft.com/office/drawing/2014/main" id="{A997962F-58CE-CC92-E894-F046588CCA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F803D7-F444-5E71-68F8-1BD85E42A8FD}"/>
              </a:ext>
            </a:extLst>
          </p:cNvPr>
          <p:cNvSpPr>
            <a:spLocks noGrp="1"/>
          </p:cNvSpPr>
          <p:nvPr>
            <p:ph type="sldNum" sz="quarter" idx="12"/>
          </p:nvPr>
        </p:nvSpPr>
        <p:spPr/>
        <p:txBody>
          <a:bodyPr/>
          <a:lstStyle/>
          <a:p>
            <a:fld id="{DD01CA0A-9865-49C7-90F3-2A18AAA94347}" type="slidenum">
              <a:rPr lang="en-US" smtClean="0"/>
              <a:t>‹#›</a:t>
            </a:fld>
            <a:endParaRPr lang="en-US"/>
          </a:p>
        </p:txBody>
      </p:sp>
    </p:spTree>
    <p:extLst>
      <p:ext uri="{BB962C8B-B14F-4D97-AF65-F5344CB8AC3E}">
        <p14:creationId xmlns:p14="http://schemas.microsoft.com/office/powerpoint/2010/main" val="211544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F8252-23A3-16E0-8188-2D3EC0712B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6170D-DB40-E0C9-A86B-161199C964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D6362D-D8EF-098B-FB4F-56AAF50D0673}"/>
              </a:ext>
            </a:extLst>
          </p:cNvPr>
          <p:cNvSpPr>
            <a:spLocks noGrp="1"/>
          </p:cNvSpPr>
          <p:nvPr>
            <p:ph type="dt" sz="half" idx="10"/>
          </p:nvPr>
        </p:nvSpPr>
        <p:spPr/>
        <p:txBody>
          <a:bodyPr/>
          <a:lstStyle/>
          <a:p>
            <a:fld id="{3DD295CE-F7AD-4E56-AA3F-FEBBA4C035BF}" type="datetimeFigureOut">
              <a:rPr lang="en-US" smtClean="0"/>
              <a:t>2/22/2025</a:t>
            </a:fld>
            <a:endParaRPr lang="en-US"/>
          </a:p>
        </p:txBody>
      </p:sp>
      <p:sp>
        <p:nvSpPr>
          <p:cNvPr id="5" name="Footer Placeholder 4">
            <a:extLst>
              <a:ext uri="{FF2B5EF4-FFF2-40B4-BE49-F238E27FC236}">
                <a16:creationId xmlns:a16="http://schemas.microsoft.com/office/drawing/2014/main" id="{CB4FBEA9-F5BC-A32D-9BD2-213C62610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CB5242-6981-0FDB-2928-692DB1C04D03}"/>
              </a:ext>
            </a:extLst>
          </p:cNvPr>
          <p:cNvSpPr>
            <a:spLocks noGrp="1"/>
          </p:cNvSpPr>
          <p:nvPr>
            <p:ph type="sldNum" sz="quarter" idx="12"/>
          </p:nvPr>
        </p:nvSpPr>
        <p:spPr/>
        <p:txBody>
          <a:bodyPr/>
          <a:lstStyle/>
          <a:p>
            <a:fld id="{DD01CA0A-9865-49C7-90F3-2A18AAA94347}" type="slidenum">
              <a:rPr lang="en-US" smtClean="0"/>
              <a:t>‹#›</a:t>
            </a:fld>
            <a:endParaRPr lang="en-US"/>
          </a:p>
        </p:txBody>
      </p:sp>
    </p:spTree>
    <p:extLst>
      <p:ext uri="{BB962C8B-B14F-4D97-AF65-F5344CB8AC3E}">
        <p14:creationId xmlns:p14="http://schemas.microsoft.com/office/powerpoint/2010/main" val="3526784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31182-5D52-71F7-656A-00EC737E8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64A412-543E-3630-D728-71D565BB82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DA6CD2-4F8B-8C3D-8F36-4E55B13270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AD7C46-1367-A22D-5D14-BD71DF726737}"/>
              </a:ext>
            </a:extLst>
          </p:cNvPr>
          <p:cNvSpPr>
            <a:spLocks noGrp="1"/>
          </p:cNvSpPr>
          <p:nvPr>
            <p:ph type="dt" sz="half" idx="10"/>
          </p:nvPr>
        </p:nvSpPr>
        <p:spPr/>
        <p:txBody>
          <a:bodyPr/>
          <a:lstStyle/>
          <a:p>
            <a:fld id="{3DD295CE-F7AD-4E56-AA3F-FEBBA4C035BF}" type="datetimeFigureOut">
              <a:rPr lang="en-US" smtClean="0"/>
              <a:t>2/22/2025</a:t>
            </a:fld>
            <a:endParaRPr lang="en-US"/>
          </a:p>
        </p:txBody>
      </p:sp>
      <p:sp>
        <p:nvSpPr>
          <p:cNvPr id="6" name="Footer Placeholder 5">
            <a:extLst>
              <a:ext uri="{FF2B5EF4-FFF2-40B4-BE49-F238E27FC236}">
                <a16:creationId xmlns:a16="http://schemas.microsoft.com/office/drawing/2014/main" id="{D3F3AE68-0F76-D180-4711-2E7B4862F2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C2F82F-3871-7C71-D2CA-ED2A30C34D20}"/>
              </a:ext>
            </a:extLst>
          </p:cNvPr>
          <p:cNvSpPr>
            <a:spLocks noGrp="1"/>
          </p:cNvSpPr>
          <p:nvPr>
            <p:ph type="sldNum" sz="quarter" idx="12"/>
          </p:nvPr>
        </p:nvSpPr>
        <p:spPr/>
        <p:txBody>
          <a:bodyPr/>
          <a:lstStyle/>
          <a:p>
            <a:fld id="{DD01CA0A-9865-49C7-90F3-2A18AAA94347}" type="slidenum">
              <a:rPr lang="en-US" smtClean="0"/>
              <a:t>‹#›</a:t>
            </a:fld>
            <a:endParaRPr lang="en-US"/>
          </a:p>
        </p:txBody>
      </p:sp>
    </p:spTree>
    <p:extLst>
      <p:ext uri="{BB962C8B-B14F-4D97-AF65-F5344CB8AC3E}">
        <p14:creationId xmlns:p14="http://schemas.microsoft.com/office/powerpoint/2010/main" val="2663544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E158-7739-8996-5D52-4A2B567201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4D21A9-3ED4-B90D-0E70-E9E46716F8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9FB440-5124-0559-6285-A3A79C89B5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BC130C-2C98-4441-2226-77BD4BA2D6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612524-B3BC-50D9-0B60-9F49C187B2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79FD98-B200-CC6F-9BFA-621FC8F46718}"/>
              </a:ext>
            </a:extLst>
          </p:cNvPr>
          <p:cNvSpPr>
            <a:spLocks noGrp="1"/>
          </p:cNvSpPr>
          <p:nvPr>
            <p:ph type="dt" sz="half" idx="10"/>
          </p:nvPr>
        </p:nvSpPr>
        <p:spPr/>
        <p:txBody>
          <a:bodyPr/>
          <a:lstStyle/>
          <a:p>
            <a:fld id="{3DD295CE-F7AD-4E56-AA3F-FEBBA4C035BF}" type="datetimeFigureOut">
              <a:rPr lang="en-US" smtClean="0"/>
              <a:t>2/22/2025</a:t>
            </a:fld>
            <a:endParaRPr lang="en-US"/>
          </a:p>
        </p:txBody>
      </p:sp>
      <p:sp>
        <p:nvSpPr>
          <p:cNvPr id="8" name="Footer Placeholder 7">
            <a:extLst>
              <a:ext uri="{FF2B5EF4-FFF2-40B4-BE49-F238E27FC236}">
                <a16:creationId xmlns:a16="http://schemas.microsoft.com/office/drawing/2014/main" id="{E653E48E-68E0-5EF2-CEAE-F904F5E31D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A4FF9A-AB2B-2952-9F5D-C8E3E0F1E201}"/>
              </a:ext>
            </a:extLst>
          </p:cNvPr>
          <p:cNvSpPr>
            <a:spLocks noGrp="1"/>
          </p:cNvSpPr>
          <p:nvPr>
            <p:ph type="sldNum" sz="quarter" idx="12"/>
          </p:nvPr>
        </p:nvSpPr>
        <p:spPr/>
        <p:txBody>
          <a:bodyPr/>
          <a:lstStyle/>
          <a:p>
            <a:fld id="{DD01CA0A-9865-49C7-90F3-2A18AAA94347}" type="slidenum">
              <a:rPr lang="en-US" smtClean="0"/>
              <a:t>‹#›</a:t>
            </a:fld>
            <a:endParaRPr lang="en-US"/>
          </a:p>
        </p:txBody>
      </p:sp>
    </p:spTree>
    <p:extLst>
      <p:ext uri="{BB962C8B-B14F-4D97-AF65-F5344CB8AC3E}">
        <p14:creationId xmlns:p14="http://schemas.microsoft.com/office/powerpoint/2010/main" val="2018586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5CD28-4CBA-F32E-E3D0-96E42E3D2B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EE0AFB-D11E-593F-3EB8-D3A37C3EAF36}"/>
              </a:ext>
            </a:extLst>
          </p:cNvPr>
          <p:cNvSpPr>
            <a:spLocks noGrp="1"/>
          </p:cNvSpPr>
          <p:nvPr>
            <p:ph type="dt" sz="half" idx="10"/>
          </p:nvPr>
        </p:nvSpPr>
        <p:spPr/>
        <p:txBody>
          <a:bodyPr/>
          <a:lstStyle/>
          <a:p>
            <a:fld id="{3DD295CE-F7AD-4E56-AA3F-FEBBA4C035BF}" type="datetimeFigureOut">
              <a:rPr lang="en-US" smtClean="0"/>
              <a:t>2/22/2025</a:t>
            </a:fld>
            <a:endParaRPr lang="en-US"/>
          </a:p>
        </p:txBody>
      </p:sp>
      <p:sp>
        <p:nvSpPr>
          <p:cNvPr id="4" name="Footer Placeholder 3">
            <a:extLst>
              <a:ext uri="{FF2B5EF4-FFF2-40B4-BE49-F238E27FC236}">
                <a16:creationId xmlns:a16="http://schemas.microsoft.com/office/drawing/2014/main" id="{752ED123-ABB0-21C1-DB25-F977D6702F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29CC55-5856-BFC5-3CB4-726043EB0FED}"/>
              </a:ext>
            </a:extLst>
          </p:cNvPr>
          <p:cNvSpPr>
            <a:spLocks noGrp="1"/>
          </p:cNvSpPr>
          <p:nvPr>
            <p:ph type="sldNum" sz="quarter" idx="12"/>
          </p:nvPr>
        </p:nvSpPr>
        <p:spPr/>
        <p:txBody>
          <a:bodyPr/>
          <a:lstStyle/>
          <a:p>
            <a:fld id="{DD01CA0A-9865-49C7-90F3-2A18AAA94347}" type="slidenum">
              <a:rPr lang="en-US" smtClean="0"/>
              <a:t>‹#›</a:t>
            </a:fld>
            <a:endParaRPr lang="en-US"/>
          </a:p>
        </p:txBody>
      </p:sp>
    </p:spTree>
    <p:extLst>
      <p:ext uri="{BB962C8B-B14F-4D97-AF65-F5344CB8AC3E}">
        <p14:creationId xmlns:p14="http://schemas.microsoft.com/office/powerpoint/2010/main" val="3695607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5AD5E8-80D7-93C9-7CCB-ED7D01B06EAB}"/>
              </a:ext>
            </a:extLst>
          </p:cNvPr>
          <p:cNvSpPr>
            <a:spLocks noGrp="1"/>
          </p:cNvSpPr>
          <p:nvPr>
            <p:ph type="dt" sz="half" idx="10"/>
          </p:nvPr>
        </p:nvSpPr>
        <p:spPr/>
        <p:txBody>
          <a:bodyPr/>
          <a:lstStyle/>
          <a:p>
            <a:fld id="{3DD295CE-F7AD-4E56-AA3F-FEBBA4C035BF}" type="datetimeFigureOut">
              <a:rPr lang="en-US" smtClean="0"/>
              <a:t>2/22/2025</a:t>
            </a:fld>
            <a:endParaRPr lang="en-US"/>
          </a:p>
        </p:txBody>
      </p:sp>
      <p:sp>
        <p:nvSpPr>
          <p:cNvPr id="3" name="Footer Placeholder 2">
            <a:extLst>
              <a:ext uri="{FF2B5EF4-FFF2-40B4-BE49-F238E27FC236}">
                <a16:creationId xmlns:a16="http://schemas.microsoft.com/office/drawing/2014/main" id="{E3ED2D0C-5D04-D2D3-1E1C-F180CB41F9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FEDDE8-C750-C28B-3A0A-95C2C50215BC}"/>
              </a:ext>
            </a:extLst>
          </p:cNvPr>
          <p:cNvSpPr>
            <a:spLocks noGrp="1"/>
          </p:cNvSpPr>
          <p:nvPr>
            <p:ph type="sldNum" sz="quarter" idx="12"/>
          </p:nvPr>
        </p:nvSpPr>
        <p:spPr/>
        <p:txBody>
          <a:bodyPr/>
          <a:lstStyle/>
          <a:p>
            <a:fld id="{DD01CA0A-9865-49C7-90F3-2A18AAA94347}" type="slidenum">
              <a:rPr lang="en-US" smtClean="0"/>
              <a:t>‹#›</a:t>
            </a:fld>
            <a:endParaRPr lang="en-US"/>
          </a:p>
        </p:txBody>
      </p:sp>
    </p:spTree>
    <p:extLst>
      <p:ext uri="{BB962C8B-B14F-4D97-AF65-F5344CB8AC3E}">
        <p14:creationId xmlns:p14="http://schemas.microsoft.com/office/powerpoint/2010/main" val="3261402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D6FDB-ADE6-F338-537A-6C71C9CCF6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8863DD-EC2B-7703-C9B7-01E1FBB231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9B7707-10F6-BF40-212E-B09793F68D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40F7CF-A377-2A0D-A601-4660C9D7B1EC}"/>
              </a:ext>
            </a:extLst>
          </p:cNvPr>
          <p:cNvSpPr>
            <a:spLocks noGrp="1"/>
          </p:cNvSpPr>
          <p:nvPr>
            <p:ph type="dt" sz="half" idx="10"/>
          </p:nvPr>
        </p:nvSpPr>
        <p:spPr/>
        <p:txBody>
          <a:bodyPr/>
          <a:lstStyle/>
          <a:p>
            <a:fld id="{3DD295CE-F7AD-4E56-AA3F-FEBBA4C035BF}" type="datetimeFigureOut">
              <a:rPr lang="en-US" smtClean="0"/>
              <a:t>2/22/2025</a:t>
            </a:fld>
            <a:endParaRPr lang="en-US"/>
          </a:p>
        </p:txBody>
      </p:sp>
      <p:sp>
        <p:nvSpPr>
          <p:cNvPr id="6" name="Footer Placeholder 5">
            <a:extLst>
              <a:ext uri="{FF2B5EF4-FFF2-40B4-BE49-F238E27FC236}">
                <a16:creationId xmlns:a16="http://schemas.microsoft.com/office/drawing/2014/main" id="{5022F073-7943-8220-88C6-0481421BE9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448F96-4398-8FB5-3851-EF814C17B442}"/>
              </a:ext>
            </a:extLst>
          </p:cNvPr>
          <p:cNvSpPr>
            <a:spLocks noGrp="1"/>
          </p:cNvSpPr>
          <p:nvPr>
            <p:ph type="sldNum" sz="quarter" idx="12"/>
          </p:nvPr>
        </p:nvSpPr>
        <p:spPr/>
        <p:txBody>
          <a:bodyPr/>
          <a:lstStyle/>
          <a:p>
            <a:fld id="{DD01CA0A-9865-49C7-90F3-2A18AAA94347}" type="slidenum">
              <a:rPr lang="en-US" smtClean="0"/>
              <a:t>‹#›</a:t>
            </a:fld>
            <a:endParaRPr lang="en-US"/>
          </a:p>
        </p:txBody>
      </p:sp>
    </p:spTree>
    <p:extLst>
      <p:ext uri="{BB962C8B-B14F-4D97-AF65-F5344CB8AC3E}">
        <p14:creationId xmlns:p14="http://schemas.microsoft.com/office/powerpoint/2010/main" val="3212351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1C16B-AABE-DE82-DB58-5552E57165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8D81A1-565C-98D7-02E3-0AB5E3EBDA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76E4A51-8FE8-ED89-85FD-A237A8DB73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08BD19-CEEE-B65C-7D25-7436F4505EDE}"/>
              </a:ext>
            </a:extLst>
          </p:cNvPr>
          <p:cNvSpPr>
            <a:spLocks noGrp="1"/>
          </p:cNvSpPr>
          <p:nvPr>
            <p:ph type="dt" sz="half" idx="10"/>
          </p:nvPr>
        </p:nvSpPr>
        <p:spPr/>
        <p:txBody>
          <a:bodyPr/>
          <a:lstStyle/>
          <a:p>
            <a:fld id="{3DD295CE-F7AD-4E56-AA3F-FEBBA4C035BF}" type="datetimeFigureOut">
              <a:rPr lang="en-US" smtClean="0"/>
              <a:t>2/22/2025</a:t>
            </a:fld>
            <a:endParaRPr lang="en-US"/>
          </a:p>
        </p:txBody>
      </p:sp>
      <p:sp>
        <p:nvSpPr>
          <p:cNvPr id="6" name="Footer Placeholder 5">
            <a:extLst>
              <a:ext uri="{FF2B5EF4-FFF2-40B4-BE49-F238E27FC236}">
                <a16:creationId xmlns:a16="http://schemas.microsoft.com/office/drawing/2014/main" id="{EA62CE97-1CDD-0AC2-CFFD-9ECCD0DB5A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51823A-582D-37EA-7F9C-FE3FEE4B1567}"/>
              </a:ext>
            </a:extLst>
          </p:cNvPr>
          <p:cNvSpPr>
            <a:spLocks noGrp="1"/>
          </p:cNvSpPr>
          <p:nvPr>
            <p:ph type="sldNum" sz="quarter" idx="12"/>
          </p:nvPr>
        </p:nvSpPr>
        <p:spPr/>
        <p:txBody>
          <a:bodyPr/>
          <a:lstStyle/>
          <a:p>
            <a:fld id="{DD01CA0A-9865-49C7-90F3-2A18AAA94347}" type="slidenum">
              <a:rPr lang="en-US" smtClean="0"/>
              <a:t>‹#›</a:t>
            </a:fld>
            <a:endParaRPr lang="en-US"/>
          </a:p>
        </p:txBody>
      </p:sp>
    </p:spTree>
    <p:extLst>
      <p:ext uri="{BB962C8B-B14F-4D97-AF65-F5344CB8AC3E}">
        <p14:creationId xmlns:p14="http://schemas.microsoft.com/office/powerpoint/2010/main" val="1447560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11648-32A4-6A47-4891-8EE8933DE3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48C26A-0B65-BC5D-935A-D7F104FE56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07A949-91BF-F64C-174C-9E3ACC269A38}"/>
              </a:ext>
            </a:extLst>
          </p:cNvPr>
          <p:cNvSpPr>
            <a:spLocks noGrp="1"/>
          </p:cNvSpPr>
          <p:nvPr>
            <p:ph type="dt" sz="half" idx="10"/>
          </p:nvPr>
        </p:nvSpPr>
        <p:spPr/>
        <p:txBody>
          <a:bodyPr/>
          <a:lstStyle/>
          <a:p>
            <a:fld id="{3DD295CE-F7AD-4E56-AA3F-FEBBA4C035BF}" type="datetimeFigureOut">
              <a:rPr lang="en-US" smtClean="0"/>
              <a:t>2/22/2025</a:t>
            </a:fld>
            <a:endParaRPr lang="en-US"/>
          </a:p>
        </p:txBody>
      </p:sp>
      <p:sp>
        <p:nvSpPr>
          <p:cNvPr id="5" name="Footer Placeholder 4">
            <a:extLst>
              <a:ext uri="{FF2B5EF4-FFF2-40B4-BE49-F238E27FC236}">
                <a16:creationId xmlns:a16="http://schemas.microsoft.com/office/drawing/2014/main" id="{CB6255E8-581D-D1AB-3304-8B1A108370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F04434-37E0-7247-619F-500DB7A29DFA}"/>
              </a:ext>
            </a:extLst>
          </p:cNvPr>
          <p:cNvSpPr>
            <a:spLocks noGrp="1"/>
          </p:cNvSpPr>
          <p:nvPr>
            <p:ph type="sldNum" sz="quarter" idx="12"/>
          </p:nvPr>
        </p:nvSpPr>
        <p:spPr/>
        <p:txBody>
          <a:bodyPr/>
          <a:lstStyle/>
          <a:p>
            <a:fld id="{DD01CA0A-9865-49C7-90F3-2A18AAA94347}" type="slidenum">
              <a:rPr lang="en-US" smtClean="0"/>
              <a:t>‹#›</a:t>
            </a:fld>
            <a:endParaRPr lang="en-US"/>
          </a:p>
        </p:txBody>
      </p:sp>
    </p:spTree>
    <p:extLst>
      <p:ext uri="{BB962C8B-B14F-4D97-AF65-F5344CB8AC3E}">
        <p14:creationId xmlns:p14="http://schemas.microsoft.com/office/powerpoint/2010/main" val="3047681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453622-E91D-3E18-3A72-B18B0DF44A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015A8E-60C3-B747-5757-9B6995A5C1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DF0E43-C5E0-88C2-9B62-E41354F7A0D7}"/>
              </a:ext>
            </a:extLst>
          </p:cNvPr>
          <p:cNvSpPr>
            <a:spLocks noGrp="1"/>
          </p:cNvSpPr>
          <p:nvPr>
            <p:ph type="dt" sz="half" idx="10"/>
          </p:nvPr>
        </p:nvSpPr>
        <p:spPr/>
        <p:txBody>
          <a:bodyPr/>
          <a:lstStyle/>
          <a:p>
            <a:fld id="{3DD295CE-F7AD-4E56-AA3F-FEBBA4C035BF}" type="datetimeFigureOut">
              <a:rPr lang="en-US" smtClean="0"/>
              <a:t>2/22/2025</a:t>
            </a:fld>
            <a:endParaRPr lang="en-US"/>
          </a:p>
        </p:txBody>
      </p:sp>
      <p:sp>
        <p:nvSpPr>
          <p:cNvPr id="5" name="Footer Placeholder 4">
            <a:extLst>
              <a:ext uri="{FF2B5EF4-FFF2-40B4-BE49-F238E27FC236}">
                <a16:creationId xmlns:a16="http://schemas.microsoft.com/office/drawing/2014/main" id="{F058DE6F-A2F5-4804-F7BC-7AFAA2B3B2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8B8AC1-BE1F-7C8F-D71C-4D477D3DDB17}"/>
              </a:ext>
            </a:extLst>
          </p:cNvPr>
          <p:cNvSpPr>
            <a:spLocks noGrp="1"/>
          </p:cNvSpPr>
          <p:nvPr>
            <p:ph type="sldNum" sz="quarter" idx="12"/>
          </p:nvPr>
        </p:nvSpPr>
        <p:spPr/>
        <p:txBody>
          <a:bodyPr/>
          <a:lstStyle/>
          <a:p>
            <a:fld id="{DD01CA0A-9865-49C7-90F3-2A18AAA94347}" type="slidenum">
              <a:rPr lang="en-US" smtClean="0"/>
              <a:t>‹#›</a:t>
            </a:fld>
            <a:endParaRPr lang="en-US"/>
          </a:p>
        </p:txBody>
      </p:sp>
    </p:spTree>
    <p:extLst>
      <p:ext uri="{BB962C8B-B14F-4D97-AF65-F5344CB8AC3E}">
        <p14:creationId xmlns:p14="http://schemas.microsoft.com/office/powerpoint/2010/main" val="792253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C95C7A-8220-31AF-7B4A-EC89BE9DB1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FB8C38-B654-1827-3AA7-34E943D0A5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428AA7-7F7E-F91F-8BBF-5A292CDB54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D295CE-F7AD-4E56-AA3F-FEBBA4C035BF}" type="datetimeFigureOut">
              <a:rPr lang="en-US" smtClean="0"/>
              <a:t>2/22/2025</a:t>
            </a:fld>
            <a:endParaRPr lang="en-US"/>
          </a:p>
        </p:txBody>
      </p:sp>
      <p:sp>
        <p:nvSpPr>
          <p:cNvPr id="5" name="Footer Placeholder 4">
            <a:extLst>
              <a:ext uri="{FF2B5EF4-FFF2-40B4-BE49-F238E27FC236}">
                <a16:creationId xmlns:a16="http://schemas.microsoft.com/office/drawing/2014/main" id="{69B2AB75-4DE4-0AF8-D9FF-C4CAF480D2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2BD7F82-5B7A-E7AC-1842-5632105F46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01CA0A-9865-49C7-90F3-2A18AAA94347}" type="slidenum">
              <a:rPr lang="en-US" smtClean="0"/>
              <a:t>‹#›</a:t>
            </a:fld>
            <a:endParaRPr lang="en-US"/>
          </a:p>
        </p:txBody>
      </p:sp>
    </p:spTree>
    <p:extLst>
      <p:ext uri="{BB962C8B-B14F-4D97-AF65-F5344CB8AC3E}">
        <p14:creationId xmlns:p14="http://schemas.microsoft.com/office/powerpoint/2010/main" val="1197579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63510-1572-823B-22DA-C484D6D7F17F}"/>
              </a:ext>
            </a:extLst>
          </p:cNvPr>
          <p:cNvSpPr>
            <a:spLocks noGrp="1"/>
          </p:cNvSpPr>
          <p:nvPr>
            <p:ph type="ctrTitle"/>
          </p:nvPr>
        </p:nvSpPr>
        <p:spPr/>
        <p:txBody>
          <a:bodyPr/>
          <a:lstStyle/>
          <a:p>
            <a:r>
              <a:rPr lang="en-US" dirty="0"/>
              <a:t>Scrum-Agile and you..</a:t>
            </a:r>
          </a:p>
        </p:txBody>
      </p:sp>
      <p:sp>
        <p:nvSpPr>
          <p:cNvPr id="3" name="Subtitle 2">
            <a:extLst>
              <a:ext uri="{FF2B5EF4-FFF2-40B4-BE49-F238E27FC236}">
                <a16:creationId xmlns:a16="http://schemas.microsoft.com/office/drawing/2014/main" id="{6C6C4DD3-5EC7-A48F-3A56-2ACA58B35004}"/>
              </a:ext>
            </a:extLst>
          </p:cNvPr>
          <p:cNvSpPr>
            <a:spLocks noGrp="1"/>
          </p:cNvSpPr>
          <p:nvPr>
            <p:ph type="subTitle" idx="1"/>
          </p:nvPr>
        </p:nvSpPr>
        <p:spPr/>
        <p:txBody>
          <a:bodyPr/>
          <a:lstStyle/>
          <a:p>
            <a:r>
              <a:rPr lang="en-US" dirty="0"/>
              <a:t>CS-250 Software Development Life Cycle</a:t>
            </a:r>
          </a:p>
          <a:p>
            <a:r>
              <a:rPr lang="en-US" dirty="0"/>
              <a:t>Module 7 – Final Project</a:t>
            </a:r>
          </a:p>
          <a:p>
            <a:r>
              <a:rPr lang="en-US" dirty="0"/>
              <a:t>Sean Fitzpatrick</a:t>
            </a:r>
          </a:p>
        </p:txBody>
      </p:sp>
    </p:spTree>
    <p:extLst>
      <p:ext uri="{BB962C8B-B14F-4D97-AF65-F5344CB8AC3E}">
        <p14:creationId xmlns:p14="http://schemas.microsoft.com/office/powerpoint/2010/main" val="1567926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5236-5AC0-924A-85A8-FCD376141E8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8C44915C-10AE-E8B6-ECE2-EF06F0120BFB}"/>
              </a:ext>
            </a:extLst>
          </p:cNvPr>
          <p:cNvSpPr>
            <a:spLocks noGrp="1"/>
          </p:cNvSpPr>
          <p:nvPr>
            <p:ph idx="1"/>
          </p:nvPr>
        </p:nvSpPr>
        <p:spPr/>
        <p:txBody>
          <a:bodyPr/>
          <a:lstStyle/>
          <a:p>
            <a:pPr marL="0" indent="0">
              <a:buNone/>
            </a:pPr>
            <a:r>
              <a:rPr lang="en-US" dirty="0"/>
              <a:t>Scrum is a lightweight framework designed to assist individuals, teams and organizations use adaptive solutions for complex problems(</a:t>
            </a:r>
            <a:r>
              <a:rPr lang="en-US" dirty="0" err="1"/>
              <a:t>Schwaber</a:t>
            </a:r>
            <a:r>
              <a:rPr lang="en-US" dirty="0"/>
              <a:t>, 2020).</a:t>
            </a:r>
          </a:p>
          <a:p>
            <a:pPr marL="0" indent="0">
              <a:buNone/>
            </a:pPr>
            <a:endParaRPr lang="en-US" dirty="0"/>
          </a:p>
          <a:p>
            <a:pPr marL="0" indent="0">
              <a:buNone/>
            </a:pPr>
            <a:r>
              <a:rPr lang="en-US" dirty="0"/>
              <a:t>It features the use of small sprints where a product is developed and tested incrementally as opposed to all at once.</a:t>
            </a:r>
          </a:p>
        </p:txBody>
      </p:sp>
    </p:spTree>
    <p:extLst>
      <p:ext uri="{BB962C8B-B14F-4D97-AF65-F5344CB8AC3E}">
        <p14:creationId xmlns:p14="http://schemas.microsoft.com/office/powerpoint/2010/main" val="2614843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A3FE17-A800-6B1D-0640-1DFDEBBA84DD}"/>
              </a:ext>
            </a:extLst>
          </p:cNvPr>
          <p:cNvSpPr txBox="1"/>
          <p:nvPr/>
        </p:nvSpPr>
        <p:spPr>
          <a:xfrm>
            <a:off x="1147313" y="517585"/>
            <a:ext cx="5155386" cy="584775"/>
          </a:xfrm>
          <a:prstGeom prst="rect">
            <a:avLst/>
          </a:prstGeom>
          <a:noFill/>
        </p:spPr>
        <p:txBody>
          <a:bodyPr wrap="none" rtlCol="0">
            <a:spAutoFit/>
          </a:bodyPr>
          <a:lstStyle/>
          <a:p>
            <a:r>
              <a:rPr lang="en-US" sz="3200" dirty="0">
                <a:latin typeface="Times New Roman" panose="02020603050405020304" pitchFamily="18" charset="0"/>
                <a:cs typeface="Times New Roman" panose="02020603050405020304" pitchFamily="18" charset="0"/>
              </a:rPr>
              <a:t>Roles of the Agile Framework</a:t>
            </a:r>
          </a:p>
        </p:txBody>
      </p:sp>
      <p:graphicFrame>
        <p:nvGraphicFramePr>
          <p:cNvPr id="4" name="Table 3">
            <a:extLst>
              <a:ext uri="{FF2B5EF4-FFF2-40B4-BE49-F238E27FC236}">
                <a16:creationId xmlns:a16="http://schemas.microsoft.com/office/drawing/2014/main" id="{B582AF77-7D73-792B-8635-E948C78A47CC}"/>
              </a:ext>
            </a:extLst>
          </p:cNvPr>
          <p:cNvGraphicFramePr>
            <a:graphicFrameLocks noGrp="1"/>
          </p:cNvGraphicFramePr>
          <p:nvPr>
            <p:extLst>
              <p:ext uri="{D42A27DB-BD31-4B8C-83A1-F6EECF244321}">
                <p14:modId xmlns:p14="http://schemas.microsoft.com/office/powerpoint/2010/main" val="3009150414"/>
              </p:ext>
            </p:extLst>
          </p:nvPr>
        </p:nvGraphicFramePr>
        <p:xfrm>
          <a:off x="1147313" y="1521923"/>
          <a:ext cx="3286664" cy="2656840"/>
        </p:xfrm>
        <a:graphic>
          <a:graphicData uri="http://schemas.openxmlformats.org/drawingml/2006/table">
            <a:tbl>
              <a:tblPr firstRow="1" bandRow="1">
                <a:tableStyleId>{5C22544A-7EE6-4342-B048-85BDC9FD1C3A}</a:tableStyleId>
              </a:tblPr>
              <a:tblGrid>
                <a:gridCol w="3286664">
                  <a:extLst>
                    <a:ext uri="{9D8B030D-6E8A-4147-A177-3AD203B41FA5}">
                      <a16:colId xmlns:a16="http://schemas.microsoft.com/office/drawing/2014/main" val="594891605"/>
                    </a:ext>
                  </a:extLst>
                </a:gridCol>
              </a:tblGrid>
              <a:tr h="370840">
                <a:tc>
                  <a:txBody>
                    <a:bodyPr/>
                    <a:lstStyle/>
                    <a:p>
                      <a:pPr algn="ctr"/>
                      <a:r>
                        <a:rPr lang="en-US" dirty="0"/>
                        <a:t>Product Owner</a:t>
                      </a:r>
                    </a:p>
                  </a:txBody>
                  <a:tcPr/>
                </a:tc>
                <a:extLst>
                  <a:ext uri="{0D108BD9-81ED-4DB2-BD59-A6C34878D82A}">
                    <a16:rowId xmlns:a16="http://schemas.microsoft.com/office/drawing/2014/main" val="3102773610"/>
                  </a:ext>
                </a:extLst>
              </a:tr>
              <a:tr h="370840">
                <a:tc>
                  <a:txBody>
                    <a:bodyPr/>
                    <a:lstStyle/>
                    <a:p>
                      <a:pPr marL="285750" indent="-285750">
                        <a:buFont typeface="Arial" panose="020B0604020202020204" pitchFamily="34" charset="0"/>
                        <a:buChar char="•"/>
                      </a:pPr>
                      <a:r>
                        <a:rPr lang="en-US" dirty="0"/>
                        <a:t>Responsible for the product backlog</a:t>
                      </a:r>
                    </a:p>
                    <a:p>
                      <a:pPr marL="285750" indent="-285750">
                        <a:buFont typeface="Arial" panose="020B0604020202020204" pitchFamily="34" charset="0"/>
                        <a:buChar char="•"/>
                      </a:pPr>
                      <a:r>
                        <a:rPr lang="en-US" dirty="0"/>
                        <a:t>Communicates needs and requests of the client to the team</a:t>
                      </a:r>
                    </a:p>
                    <a:p>
                      <a:pPr marL="285750" indent="-285750">
                        <a:buFont typeface="Arial" panose="020B0604020202020204" pitchFamily="34" charset="0"/>
                        <a:buChar char="•"/>
                      </a:pPr>
                      <a:r>
                        <a:rPr lang="en-US" dirty="0"/>
                        <a:t>Ensures that the product backlog is transparent and understood</a:t>
                      </a:r>
                    </a:p>
                  </a:txBody>
                  <a:tcPr/>
                </a:tc>
                <a:extLst>
                  <a:ext uri="{0D108BD9-81ED-4DB2-BD59-A6C34878D82A}">
                    <a16:rowId xmlns:a16="http://schemas.microsoft.com/office/drawing/2014/main" val="220023315"/>
                  </a:ext>
                </a:extLst>
              </a:tr>
            </a:tbl>
          </a:graphicData>
        </a:graphic>
      </p:graphicFrame>
      <p:graphicFrame>
        <p:nvGraphicFramePr>
          <p:cNvPr id="5" name="Table 4">
            <a:extLst>
              <a:ext uri="{FF2B5EF4-FFF2-40B4-BE49-F238E27FC236}">
                <a16:creationId xmlns:a16="http://schemas.microsoft.com/office/drawing/2014/main" id="{30464BA1-F4E1-39EC-8617-F5C8C3396EDE}"/>
              </a:ext>
            </a:extLst>
          </p:cNvPr>
          <p:cNvGraphicFramePr>
            <a:graphicFrameLocks noGrp="1"/>
          </p:cNvGraphicFramePr>
          <p:nvPr>
            <p:extLst>
              <p:ext uri="{D42A27DB-BD31-4B8C-83A1-F6EECF244321}">
                <p14:modId xmlns:p14="http://schemas.microsoft.com/office/powerpoint/2010/main" val="113559286"/>
              </p:ext>
            </p:extLst>
          </p:nvPr>
        </p:nvGraphicFramePr>
        <p:xfrm>
          <a:off x="4659367" y="1521923"/>
          <a:ext cx="3286664" cy="3205480"/>
        </p:xfrm>
        <a:graphic>
          <a:graphicData uri="http://schemas.openxmlformats.org/drawingml/2006/table">
            <a:tbl>
              <a:tblPr firstRow="1" bandRow="1">
                <a:tableStyleId>{5C22544A-7EE6-4342-B048-85BDC9FD1C3A}</a:tableStyleId>
              </a:tblPr>
              <a:tblGrid>
                <a:gridCol w="3286664">
                  <a:extLst>
                    <a:ext uri="{9D8B030D-6E8A-4147-A177-3AD203B41FA5}">
                      <a16:colId xmlns:a16="http://schemas.microsoft.com/office/drawing/2014/main" val="594891605"/>
                    </a:ext>
                  </a:extLst>
                </a:gridCol>
              </a:tblGrid>
              <a:tr h="370840">
                <a:tc>
                  <a:txBody>
                    <a:bodyPr/>
                    <a:lstStyle/>
                    <a:p>
                      <a:pPr algn="ctr"/>
                      <a:r>
                        <a:rPr lang="en-US" dirty="0"/>
                        <a:t>Scrum Master</a:t>
                      </a:r>
                    </a:p>
                  </a:txBody>
                  <a:tcPr>
                    <a:solidFill>
                      <a:schemeClr val="accent2"/>
                    </a:solidFill>
                  </a:tcPr>
                </a:tc>
                <a:extLst>
                  <a:ext uri="{0D108BD9-81ED-4DB2-BD59-A6C34878D82A}">
                    <a16:rowId xmlns:a16="http://schemas.microsoft.com/office/drawing/2014/main" val="3102773610"/>
                  </a:ext>
                </a:extLst>
              </a:tr>
              <a:tr h="370840">
                <a:tc>
                  <a:txBody>
                    <a:bodyPr/>
                    <a:lstStyle/>
                    <a:p>
                      <a:pPr marL="285750" indent="-285750">
                        <a:buFont typeface="Arial" panose="020B0604020202020204" pitchFamily="34" charset="0"/>
                        <a:buChar char="•"/>
                      </a:pPr>
                      <a:r>
                        <a:rPr lang="en-US" dirty="0"/>
                        <a:t>Help everyone understand Scrum Theory and practice</a:t>
                      </a:r>
                    </a:p>
                    <a:p>
                      <a:pPr marL="285750" indent="-285750">
                        <a:buFont typeface="Arial" panose="020B0604020202020204" pitchFamily="34" charset="0"/>
                        <a:buChar char="•"/>
                      </a:pPr>
                      <a:r>
                        <a:rPr lang="en-US" dirty="0"/>
                        <a:t>Accountable for Scrum Team’s effectiveness</a:t>
                      </a:r>
                    </a:p>
                    <a:p>
                      <a:pPr marL="285750" indent="-285750">
                        <a:buFont typeface="Arial" panose="020B0604020202020204" pitchFamily="34" charset="0"/>
                        <a:buChar char="•"/>
                      </a:pPr>
                      <a:r>
                        <a:rPr lang="en-US" dirty="0"/>
                        <a:t>Coaches team in self-management</a:t>
                      </a:r>
                    </a:p>
                    <a:p>
                      <a:pPr marL="285750" indent="-285750">
                        <a:buFont typeface="Arial" panose="020B0604020202020204" pitchFamily="34" charset="0"/>
                        <a:buChar char="•"/>
                      </a:pPr>
                      <a:r>
                        <a:rPr lang="en-US" dirty="0"/>
                        <a:t>Removes impediments</a:t>
                      </a:r>
                    </a:p>
                    <a:p>
                      <a:pPr marL="285750" indent="-285750">
                        <a:buFont typeface="Arial" panose="020B0604020202020204" pitchFamily="34" charset="0"/>
                        <a:buChar char="•"/>
                      </a:pPr>
                      <a:r>
                        <a:rPr lang="en-US" dirty="0"/>
                        <a:t>Ensures that all scrum events take place and are productive</a:t>
                      </a:r>
                    </a:p>
                  </a:txBody>
                  <a:tcPr/>
                </a:tc>
                <a:extLst>
                  <a:ext uri="{0D108BD9-81ED-4DB2-BD59-A6C34878D82A}">
                    <a16:rowId xmlns:a16="http://schemas.microsoft.com/office/drawing/2014/main" val="220023315"/>
                  </a:ext>
                </a:extLst>
              </a:tr>
            </a:tbl>
          </a:graphicData>
        </a:graphic>
      </p:graphicFrame>
      <p:graphicFrame>
        <p:nvGraphicFramePr>
          <p:cNvPr id="6" name="Table 5">
            <a:extLst>
              <a:ext uri="{FF2B5EF4-FFF2-40B4-BE49-F238E27FC236}">
                <a16:creationId xmlns:a16="http://schemas.microsoft.com/office/drawing/2014/main" id="{56FD3BF1-098E-3814-A36C-FDC351641BF9}"/>
              </a:ext>
            </a:extLst>
          </p:cNvPr>
          <p:cNvGraphicFramePr>
            <a:graphicFrameLocks noGrp="1"/>
          </p:cNvGraphicFramePr>
          <p:nvPr>
            <p:extLst>
              <p:ext uri="{D42A27DB-BD31-4B8C-83A1-F6EECF244321}">
                <p14:modId xmlns:p14="http://schemas.microsoft.com/office/powerpoint/2010/main" val="1500479451"/>
              </p:ext>
            </p:extLst>
          </p:nvPr>
        </p:nvGraphicFramePr>
        <p:xfrm>
          <a:off x="8287110" y="1521923"/>
          <a:ext cx="3286664" cy="3205480"/>
        </p:xfrm>
        <a:graphic>
          <a:graphicData uri="http://schemas.openxmlformats.org/drawingml/2006/table">
            <a:tbl>
              <a:tblPr firstRow="1" bandRow="1">
                <a:tableStyleId>{5C22544A-7EE6-4342-B048-85BDC9FD1C3A}</a:tableStyleId>
              </a:tblPr>
              <a:tblGrid>
                <a:gridCol w="3286664">
                  <a:extLst>
                    <a:ext uri="{9D8B030D-6E8A-4147-A177-3AD203B41FA5}">
                      <a16:colId xmlns:a16="http://schemas.microsoft.com/office/drawing/2014/main" val="594891605"/>
                    </a:ext>
                  </a:extLst>
                </a:gridCol>
              </a:tblGrid>
              <a:tr h="370840">
                <a:tc>
                  <a:txBody>
                    <a:bodyPr/>
                    <a:lstStyle/>
                    <a:p>
                      <a:pPr algn="ctr"/>
                      <a:r>
                        <a:rPr lang="en-US" dirty="0"/>
                        <a:t>Developers/Testers</a:t>
                      </a:r>
                    </a:p>
                  </a:txBody>
                  <a:tcPr/>
                </a:tc>
                <a:extLst>
                  <a:ext uri="{0D108BD9-81ED-4DB2-BD59-A6C34878D82A}">
                    <a16:rowId xmlns:a16="http://schemas.microsoft.com/office/drawing/2014/main" val="3102773610"/>
                  </a:ext>
                </a:extLst>
              </a:tr>
              <a:tr h="370840">
                <a:tc>
                  <a:txBody>
                    <a:bodyPr/>
                    <a:lstStyle/>
                    <a:p>
                      <a:pPr marL="285750" indent="-285750">
                        <a:buFont typeface="Arial" panose="020B0604020202020204" pitchFamily="34" charset="0"/>
                        <a:buChar char="•"/>
                      </a:pPr>
                      <a:r>
                        <a:rPr lang="en-US" dirty="0"/>
                        <a:t>Committed to creating any aspect of a useable increment each Sprint</a:t>
                      </a:r>
                    </a:p>
                    <a:p>
                      <a:pPr marL="285750" indent="-285750">
                        <a:buFont typeface="Arial" panose="020B0604020202020204" pitchFamily="34" charset="0"/>
                        <a:buChar char="•"/>
                      </a:pPr>
                      <a:r>
                        <a:rPr lang="en-US" dirty="0"/>
                        <a:t>Instill quality by adhering to the Definition of Done.</a:t>
                      </a:r>
                    </a:p>
                    <a:p>
                      <a:pPr marL="285750" indent="-285750">
                        <a:buFont typeface="Arial" panose="020B0604020202020204" pitchFamily="34" charset="0"/>
                        <a:buChar char="•"/>
                      </a:pPr>
                      <a:r>
                        <a:rPr lang="en-US" dirty="0"/>
                        <a:t>Adapts the daily plan towards the Sprint Goal.</a:t>
                      </a:r>
                    </a:p>
                    <a:p>
                      <a:pPr marL="285750" indent="-285750">
                        <a:buFont typeface="Arial" panose="020B0604020202020204" pitchFamily="34" charset="0"/>
                        <a:buChar char="•"/>
                      </a:pPr>
                      <a:r>
                        <a:rPr lang="en-US" dirty="0"/>
                        <a:t>Hold each other accountable as professionals</a:t>
                      </a:r>
                    </a:p>
                  </a:txBody>
                  <a:tcPr/>
                </a:tc>
                <a:extLst>
                  <a:ext uri="{0D108BD9-81ED-4DB2-BD59-A6C34878D82A}">
                    <a16:rowId xmlns:a16="http://schemas.microsoft.com/office/drawing/2014/main" val="220023315"/>
                  </a:ext>
                </a:extLst>
              </a:tr>
            </a:tbl>
          </a:graphicData>
        </a:graphic>
      </p:graphicFrame>
    </p:spTree>
    <p:extLst>
      <p:ext uri="{BB962C8B-B14F-4D97-AF65-F5344CB8AC3E}">
        <p14:creationId xmlns:p14="http://schemas.microsoft.com/office/powerpoint/2010/main" val="3409298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B26F3C-0CA1-2A3D-4A65-BB6D9E8C5C1B}"/>
              </a:ext>
            </a:extLst>
          </p:cNvPr>
          <p:cNvSpPr txBox="1"/>
          <p:nvPr/>
        </p:nvSpPr>
        <p:spPr>
          <a:xfrm>
            <a:off x="230038" y="209798"/>
            <a:ext cx="3193503" cy="1077218"/>
          </a:xfrm>
          <a:prstGeom prst="rect">
            <a:avLst/>
          </a:prstGeom>
          <a:noFill/>
        </p:spPr>
        <p:txBody>
          <a:bodyPr wrap="none" rtlCol="0">
            <a:spAutoFit/>
          </a:bodyPr>
          <a:lstStyle/>
          <a:p>
            <a:r>
              <a:rPr lang="en-US" sz="3200" dirty="0">
                <a:latin typeface="Times New Roman" panose="02020603050405020304" pitchFamily="18" charset="0"/>
                <a:cs typeface="Times New Roman" panose="02020603050405020304" pitchFamily="18" charset="0"/>
              </a:rPr>
              <a:t>Agile Framework </a:t>
            </a:r>
          </a:p>
          <a:p>
            <a:r>
              <a:rPr lang="en-US" sz="3200" dirty="0">
                <a:latin typeface="Times New Roman" panose="02020603050405020304" pitchFamily="18" charset="0"/>
                <a:cs typeface="Times New Roman" panose="02020603050405020304" pitchFamily="18" charset="0"/>
              </a:rPr>
              <a:t>Phases</a:t>
            </a:r>
          </a:p>
        </p:txBody>
      </p:sp>
      <p:graphicFrame>
        <p:nvGraphicFramePr>
          <p:cNvPr id="4" name="Table 3">
            <a:extLst>
              <a:ext uri="{FF2B5EF4-FFF2-40B4-BE49-F238E27FC236}">
                <a16:creationId xmlns:a16="http://schemas.microsoft.com/office/drawing/2014/main" id="{72816979-A4E0-FE87-5A35-AD0B4179B364}"/>
              </a:ext>
            </a:extLst>
          </p:cNvPr>
          <p:cNvGraphicFramePr>
            <a:graphicFrameLocks noGrp="1"/>
          </p:cNvGraphicFramePr>
          <p:nvPr>
            <p:extLst>
              <p:ext uri="{D42A27DB-BD31-4B8C-83A1-F6EECF244321}">
                <p14:modId xmlns:p14="http://schemas.microsoft.com/office/powerpoint/2010/main" val="246252325"/>
              </p:ext>
            </p:extLst>
          </p:nvPr>
        </p:nvGraphicFramePr>
        <p:xfrm>
          <a:off x="4281244" y="209798"/>
          <a:ext cx="3433313" cy="2651888"/>
        </p:xfrm>
        <a:graphic>
          <a:graphicData uri="http://schemas.openxmlformats.org/drawingml/2006/table">
            <a:tbl>
              <a:tblPr firstRow="1" bandRow="1">
                <a:tableStyleId>{5C22544A-7EE6-4342-B048-85BDC9FD1C3A}</a:tableStyleId>
              </a:tblPr>
              <a:tblGrid>
                <a:gridCol w="3433313">
                  <a:extLst>
                    <a:ext uri="{9D8B030D-6E8A-4147-A177-3AD203B41FA5}">
                      <a16:colId xmlns:a16="http://schemas.microsoft.com/office/drawing/2014/main" val="2031773973"/>
                    </a:ext>
                  </a:extLst>
                </a:gridCol>
              </a:tblGrid>
              <a:tr h="365888">
                <a:tc>
                  <a:txBody>
                    <a:bodyPr/>
                    <a:lstStyle/>
                    <a:p>
                      <a:pPr algn="ctr"/>
                      <a:r>
                        <a:rPr lang="en-US" b="1" dirty="0">
                          <a:solidFill>
                            <a:schemeClr val="tx1"/>
                          </a:solidFill>
                        </a:rPr>
                        <a:t>Initiation</a:t>
                      </a:r>
                      <a:endParaRPr lang="en-US" b="1" dirty="0"/>
                    </a:p>
                  </a:txBody>
                  <a:tcPr>
                    <a:solidFill>
                      <a:schemeClr val="accent2"/>
                    </a:solidFill>
                  </a:tcPr>
                </a:tc>
                <a:extLst>
                  <a:ext uri="{0D108BD9-81ED-4DB2-BD59-A6C34878D82A}">
                    <a16:rowId xmlns:a16="http://schemas.microsoft.com/office/drawing/2014/main" val="248336007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During this phase of the agile framework, the team will create the project’s vision, outlining a roadmap detailing objectives, goals and deliverables. They will assign team to each role and form the project backlog.</a:t>
                      </a:r>
                    </a:p>
                    <a:p>
                      <a:endParaRPr lang="en-US" dirty="0"/>
                    </a:p>
                  </a:txBody>
                  <a:tcPr>
                    <a:solidFill>
                      <a:schemeClr val="accent2">
                        <a:lumMod val="60000"/>
                        <a:lumOff val="40000"/>
                      </a:schemeClr>
                    </a:solidFill>
                  </a:tcPr>
                </a:tc>
                <a:extLst>
                  <a:ext uri="{0D108BD9-81ED-4DB2-BD59-A6C34878D82A}">
                    <a16:rowId xmlns:a16="http://schemas.microsoft.com/office/drawing/2014/main" val="489396627"/>
                  </a:ext>
                </a:extLst>
              </a:tr>
            </a:tbl>
          </a:graphicData>
        </a:graphic>
      </p:graphicFrame>
      <p:graphicFrame>
        <p:nvGraphicFramePr>
          <p:cNvPr id="5" name="Table 4">
            <a:extLst>
              <a:ext uri="{FF2B5EF4-FFF2-40B4-BE49-F238E27FC236}">
                <a16:creationId xmlns:a16="http://schemas.microsoft.com/office/drawing/2014/main" id="{7DC72A10-48A8-E550-A40A-EA461FF471D4}"/>
              </a:ext>
            </a:extLst>
          </p:cNvPr>
          <p:cNvGraphicFramePr>
            <a:graphicFrameLocks noGrp="1"/>
          </p:cNvGraphicFramePr>
          <p:nvPr>
            <p:extLst>
              <p:ext uri="{D42A27DB-BD31-4B8C-83A1-F6EECF244321}">
                <p14:modId xmlns:p14="http://schemas.microsoft.com/office/powerpoint/2010/main" val="1722849535"/>
              </p:ext>
            </p:extLst>
          </p:nvPr>
        </p:nvGraphicFramePr>
        <p:xfrm>
          <a:off x="8241105" y="1739900"/>
          <a:ext cx="3433313" cy="1559560"/>
        </p:xfrm>
        <a:graphic>
          <a:graphicData uri="http://schemas.openxmlformats.org/drawingml/2006/table">
            <a:tbl>
              <a:tblPr firstRow="1" bandRow="1">
                <a:tableStyleId>{5C22544A-7EE6-4342-B048-85BDC9FD1C3A}</a:tableStyleId>
              </a:tblPr>
              <a:tblGrid>
                <a:gridCol w="3433313">
                  <a:extLst>
                    <a:ext uri="{9D8B030D-6E8A-4147-A177-3AD203B41FA5}">
                      <a16:colId xmlns:a16="http://schemas.microsoft.com/office/drawing/2014/main" val="2031773973"/>
                    </a:ext>
                  </a:extLst>
                </a:gridCol>
              </a:tblGrid>
              <a:tr h="370840">
                <a:tc>
                  <a:txBody>
                    <a:bodyPr/>
                    <a:lstStyle/>
                    <a:p>
                      <a:pPr algn="ctr"/>
                      <a:r>
                        <a:rPr lang="en-US" b="1" dirty="0">
                          <a:solidFill>
                            <a:schemeClr val="tx1"/>
                          </a:solidFill>
                        </a:rPr>
                        <a:t>Planning and Estimates</a:t>
                      </a:r>
                      <a:endParaRPr lang="en-US" b="1" dirty="0"/>
                    </a:p>
                  </a:txBody>
                  <a:tcPr>
                    <a:solidFill>
                      <a:schemeClr val="accent2"/>
                    </a:solidFill>
                  </a:tcPr>
                </a:tc>
                <a:extLst>
                  <a:ext uri="{0D108BD9-81ED-4DB2-BD59-A6C34878D82A}">
                    <a16:rowId xmlns:a16="http://schemas.microsoft.com/office/drawing/2014/main" val="2483360077"/>
                  </a:ext>
                </a:extLst>
              </a:tr>
              <a:tr h="370840">
                <a:tc>
                  <a:txBody>
                    <a:bodyPr/>
                    <a:lstStyle/>
                    <a:p>
                      <a:r>
                        <a:rPr lang="en-US" dirty="0"/>
                        <a:t>The team decides which user stories to work on during the current sprint, creating the sprint backlog. </a:t>
                      </a:r>
                    </a:p>
                  </a:txBody>
                  <a:tcPr>
                    <a:solidFill>
                      <a:schemeClr val="accent2">
                        <a:lumMod val="60000"/>
                        <a:lumOff val="40000"/>
                      </a:schemeClr>
                    </a:solidFill>
                  </a:tcPr>
                </a:tc>
                <a:extLst>
                  <a:ext uri="{0D108BD9-81ED-4DB2-BD59-A6C34878D82A}">
                    <a16:rowId xmlns:a16="http://schemas.microsoft.com/office/drawing/2014/main" val="489396627"/>
                  </a:ext>
                </a:extLst>
              </a:tr>
            </a:tbl>
          </a:graphicData>
        </a:graphic>
      </p:graphicFrame>
      <p:graphicFrame>
        <p:nvGraphicFramePr>
          <p:cNvPr id="6" name="Table 5">
            <a:extLst>
              <a:ext uri="{FF2B5EF4-FFF2-40B4-BE49-F238E27FC236}">
                <a16:creationId xmlns:a16="http://schemas.microsoft.com/office/drawing/2014/main" id="{E897D8B5-6AE3-F661-709B-30B2C65A7D95}"/>
              </a:ext>
            </a:extLst>
          </p:cNvPr>
          <p:cNvGraphicFramePr>
            <a:graphicFrameLocks noGrp="1"/>
          </p:cNvGraphicFramePr>
          <p:nvPr>
            <p:extLst>
              <p:ext uri="{D42A27DB-BD31-4B8C-83A1-F6EECF244321}">
                <p14:modId xmlns:p14="http://schemas.microsoft.com/office/powerpoint/2010/main" val="3143318379"/>
              </p:ext>
            </p:extLst>
          </p:nvPr>
        </p:nvGraphicFramePr>
        <p:xfrm>
          <a:off x="8459638" y="4338320"/>
          <a:ext cx="3433313" cy="1833880"/>
        </p:xfrm>
        <a:graphic>
          <a:graphicData uri="http://schemas.openxmlformats.org/drawingml/2006/table">
            <a:tbl>
              <a:tblPr firstRow="1" bandRow="1">
                <a:tableStyleId>{5C22544A-7EE6-4342-B048-85BDC9FD1C3A}</a:tableStyleId>
              </a:tblPr>
              <a:tblGrid>
                <a:gridCol w="3433313">
                  <a:extLst>
                    <a:ext uri="{9D8B030D-6E8A-4147-A177-3AD203B41FA5}">
                      <a16:colId xmlns:a16="http://schemas.microsoft.com/office/drawing/2014/main" val="2031773973"/>
                    </a:ext>
                  </a:extLst>
                </a:gridCol>
              </a:tblGrid>
              <a:tr h="370840">
                <a:tc>
                  <a:txBody>
                    <a:bodyPr/>
                    <a:lstStyle/>
                    <a:p>
                      <a:pPr algn="ctr"/>
                      <a:r>
                        <a:rPr lang="en-US" b="1" dirty="0">
                          <a:solidFill>
                            <a:schemeClr val="tx1"/>
                          </a:solidFill>
                        </a:rPr>
                        <a:t>Implementation</a:t>
                      </a:r>
                      <a:endParaRPr lang="en-US" b="1" dirty="0"/>
                    </a:p>
                  </a:txBody>
                  <a:tcPr>
                    <a:solidFill>
                      <a:schemeClr val="accent2"/>
                    </a:solidFill>
                  </a:tcPr>
                </a:tc>
                <a:extLst>
                  <a:ext uri="{0D108BD9-81ED-4DB2-BD59-A6C34878D82A}">
                    <a16:rowId xmlns:a16="http://schemas.microsoft.com/office/drawing/2014/main" val="248336007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This phase is about executing tasks and activities to accomplish goals and complete deliverables. </a:t>
                      </a:r>
                    </a:p>
                    <a:p>
                      <a:endParaRPr lang="en-US" dirty="0"/>
                    </a:p>
                  </a:txBody>
                  <a:tcPr>
                    <a:solidFill>
                      <a:schemeClr val="accent2">
                        <a:lumMod val="60000"/>
                        <a:lumOff val="40000"/>
                      </a:schemeClr>
                    </a:solidFill>
                  </a:tcPr>
                </a:tc>
                <a:extLst>
                  <a:ext uri="{0D108BD9-81ED-4DB2-BD59-A6C34878D82A}">
                    <a16:rowId xmlns:a16="http://schemas.microsoft.com/office/drawing/2014/main" val="489396627"/>
                  </a:ext>
                </a:extLst>
              </a:tr>
            </a:tbl>
          </a:graphicData>
        </a:graphic>
      </p:graphicFrame>
      <p:graphicFrame>
        <p:nvGraphicFramePr>
          <p:cNvPr id="7" name="Table 6">
            <a:extLst>
              <a:ext uri="{FF2B5EF4-FFF2-40B4-BE49-F238E27FC236}">
                <a16:creationId xmlns:a16="http://schemas.microsoft.com/office/drawing/2014/main" id="{4D37AD1D-2BCE-2020-BA63-DCEA14B0F3A1}"/>
              </a:ext>
            </a:extLst>
          </p:cNvPr>
          <p:cNvGraphicFramePr>
            <a:graphicFrameLocks noGrp="1"/>
          </p:cNvGraphicFramePr>
          <p:nvPr>
            <p:extLst>
              <p:ext uri="{D42A27DB-BD31-4B8C-83A1-F6EECF244321}">
                <p14:modId xmlns:p14="http://schemas.microsoft.com/office/powerpoint/2010/main" val="130211087"/>
              </p:ext>
            </p:extLst>
          </p:nvPr>
        </p:nvGraphicFramePr>
        <p:xfrm>
          <a:off x="4272953" y="3996315"/>
          <a:ext cx="3433313" cy="2656840"/>
        </p:xfrm>
        <a:graphic>
          <a:graphicData uri="http://schemas.openxmlformats.org/drawingml/2006/table">
            <a:tbl>
              <a:tblPr firstRow="1" bandRow="1">
                <a:tableStyleId>{5C22544A-7EE6-4342-B048-85BDC9FD1C3A}</a:tableStyleId>
              </a:tblPr>
              <a:tblGrid>
                <a:gridCol w="3433313">
                  <a:extLst>
                    <a:ext uri="{9D8B030D-6E8A-4147-A177-3AD203B41FA5}">
                      <a16:colId xmlns:a16="http://schemas.microsoft.com/office/drawing/2014/main" val="2031773973"/>
                    </a:ext>
                  </a:extLst>
                </a:gridCol>
              </a:tblGrid>
              <a:tr h="370840">
                <a:tc>
                  <a:txBody>
                    <a:bodyPr/>
                    <a:lstStyle/>
                    <a:p>
                      <a:pPr algn="ctr"/>
                      <a:r>
                        <a:rPr lang="en-US" b="1" dirty="0">
                          <a:solidFill>
                            <a:schemeClr val="tx1"/>
                          </a:solidFill>
                        </a:rPr>
                        <a:t>Review &amp; Retrospective</a:t>
                      </a:r>
                      <a:endParaRPr lang="en-US" b="1" dirty="0"/>
                    </a:p>
                  </a:txBody>
                  <a:tcPr>
                    <a:solidFill>
                      <a:schemeClr val="accent2"/>
                    </a:solidFill>
                  </a:tcPr>
                </a:tc>
                <a:extLst>
                  <a:ext uri="{0D108BD9-81ED-4DB2-BD59-A6C34878D82A}">
                    <a16:rowId xmlns:a16="http://schemas.microsoft.com/office/drawing/2014/main" val="248336007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This phase brings the team together to go over the previous sprint. It is used to discuss the good and bad of the sprint so that the team can be more efficient and better able to adapt in the future.</a:t>
                      </a:r>
                    </a:p>
                    <a:p>
                      <a:endParaRPr lang="en-US" dirty="0"/>
                    </a:p>
                  </a:txBody>
                  <a:tcPr>
                    <a:solidFill>
                      <a:schemeClr val="accent2">
                        <a:lumMod val="60000"/>
                        <a:lumOff val="40000"/>
                      </a:schemeClr>
                    </a:solidFill>
                  </a:tcPr>
                </a:tc>
                <a:extLst>
                  <a:ext uri="{0D108BD9-81ED-4DB2-BD59-A6C34878D82A}">
                    <a16:rowId xmlns:a16="http://schemas.microsoft.com/office/drawing/2014/main" val="489396627"/>
                  </a:ext>
                </a:extLst>
              </a:tr>
            </a:tbl>
          </a:graphicData>
        </a:graphic>
      </p:graphicFrame>
      <p:graphicFrame>
        <p:nvGraphicFramePr>
          <p:cNvPr id="8" name="Table 7">
            <a:extLst>
              <a:ext uri="{FF2B5EF4-FFF2-40B4-BE49-F238E27FC236}">
                <a16:creationId xmlns:a16="http://schemas.microsoft.com/office/drawing/2014/main" id="{E2E401C4-6EC8-9A8C-96B7-F4B755E5A222}"/>
              </a:ext>
            </a:extLst>
          </p:cNvPr>
          <p:cNvGraphicFramePr>
            <a:graphicFrameLocks noGrp="1"/>
          </p:cNvGraphicFramePr>
          <p:nvPr>
            <p:extLst>
              <p:ext uri="{D42A27DB-BD31-4B8C-83A1-F6EECF244321}">
                <p14:modId xmlns:p14="http://schemas.microsoft.com/office/powerpoint/2010/main" val="1352203372"/>
              </p:ext>
            </p:extLst>
          </p:nvPr>
        </p:nvGraphicFramePr>
        <p:xfrm>
          <a:off x="230038" y="1828800"/>
          <a:ext cx="3433313" cy="3200400"/>
        </p:xfrm>
        <a:graphic>
          <a:graphicData uri="http://schemas.openxmlformats.org/drawingml/2006/table">
            <a:tbl>
              <a:tblPr firstRow="1" bandRow="1">
                <a:tableStyleId>{5C22544A-7EE6-4342-B048-85BDC9FD1C3A}</a:tableStyleId>
              </a:tblPr>
              <a:tblGrid>
                <a:gridCol w="3433313">
                  <a:extLst>
                    <a:ext uri="{9D8B030D-6E8A-4147-A177-3AD203B41FA5}">
                      <a16:colId xmlns:a16="http://schemas.microsoft.com/office/drawing/2014/main" val="2031773973"/>
                    </a:ext>
                  </a:extLst>
                </a:gridCol>
              </a:tblGrid>
              <a:tr h="361447">
                <a:tc>
                  <a:txBody>
                    <a:bodyPr/>
                    <a:lstStyle/>
                    <a:p>
                      <a:pPr algn="ctr"/>
                      <a:r>
                        <a:rPr lang="en-US" b="1" dirty="0">
                          <a:solidFill>
                            <a:schemeClr val="tx1"/>
                          </a:solidFill>
                        </a:rPr>
                        <a:t>Release Phase</a:t>
                      </a:r>
                      <a:endParaRPr lang="en-US" b="1" dirty="0"/>
                    </a:p>
                  </a:txBody>
                  <a:tcPr>
                    <a:solidFill>
                      <a:schemeClr val="accent2"/>
                    </a:solidFill>
                  </a:tcPr>
                </a:tc>
                <a:extLst>
                  <a:ext uri="{0D108BD9-81ED-4DB2-BD59-A6C34878D82A}">
                    <a16:rowId xmlns:a16="http://schemas.microsoft.com/office/drawing/2014/main" val="248336007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This is the final phase of the scrum and is spent preparing the deliverables of the project before turning them over to the appropriate stakeholders. It can lead to a project retrospective which is much like the sprint retrospective, but it covers the entirety of the project.</a:t>
                      </a:r>
                    </a:p>
                    <a:p>
                      <a:endParaRPr lang="en-US" dirty="0"/>
                    </a:p>
                  </a:txBody>
                  <a:tcPr>
                    <a:solidFill>
                      <a:schemeClr val="accent2">
                        <a:lumMod val="60000"/>
                        <a:lumOff val="40000"/>
                      </a:schemeClr>
                    </a:solidFill>
                  </a:tcPr>
                </a:tc>
                <a:extLst>
                  <a:ext uri="{0D108BD9-81ED-4DB2-BD59-A6C34878D82A}">
                    <a16:rowId xmlns:a16="http://schemas.microsoft.com/office/drawing/2014/main" val="489396627"/>
                  </a:ext>
                </a:extLst>
              </a:tr>
            </a:tbl>
          </a:graphicData>
        </a:graphic>
      </p:graphicFrame>
      <p:cxnSp>
        <p:nvCxnSpPr>
          <p:cNvPr id="10" name="Straight Arrow Connector 9">
            <a:extLst>
              <a:ext uri="{FF2B5EF4-FFF2-40B4-BE49-F238E27FC236}">
                <a16:creationId xmlns:a16="http://schemas.microsoft.com/office/drawing/2014/main" id="{9F5CDEEC-0E76-77BE-5A39-C332DA0A8529}"/>
              </a:ext>
            </a:extLst>
          </p:cNvPr>
          <p:cNvCxnSpPr>
            <a:cxnSpLocks/>
            <a:endCxn id="5" idx="0"/>
          </p:cNvCxnSpPr>
          <p:nvPr/>
        </p:nvCxnSpPr>
        <p:spPr>
          <a:xfrm>
            <a:off x="7714557" y="884211"/>
            <a:ext cx="2243204" cy="8556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69CA48C-3B7A-30A3-3859-098E9F78B3DF}"/>
              </a:ext>
            </a:extLst>
          </p:cNvPr>
          <p:cNvCxnSpPr/>
          <p:nvPr/>
        </p:nvCxnSpPr>
        <p:spPr>
          <a:xfrm>
            <a:off x="9747849" y="3299460"/>
            <a:ext cx="0" cy="10388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46B502D-0607-77E9-47D5-48184A857910}"/>
              </a:ext>
            </a:extLst>
          </p:cNvPr>
          <p:cNvCxnSpPr>
            <a:cxnSpLocks/>
            <a:stCxn id="6" idx="1"/>
            <a:endCxn id="7" idx="3"/>
          </p:cNvCxnSpPr>
          <p:nvPr/>
        </p:nvCxnSpPr>
        <p:spPr>
          <a:xfrm flipH="1">
            <a:off x="7706266" y="5255260"/>
            <a:ext cx="753372" cy="694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474DAE4-9DC9-C4E8-0114-E49689F9E6C3}"/>
              </a:ext>
            </a:extLst>
          </p:cNvPr>
          <p:cNvCxnSpPr>
            <a:cxnSpLocks/>
            <a:stCxn id="7" idx="1"/>
            <a:endCxn id="8" idx="2"/>
          </p:cNvCxnSpPr>
          <p:nvPr/>
        </p:nvCxnSpPr>
        <p:spPr>
          <a:xfrm flipH="1" flipV="1">
            <a:off x="1946694" y="5029200"/>
            <a:ext cx="2326259" cy="2955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0904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4DFA24-26FE-9E03-2EB9-7A08ECC35CF2}"/>
              </a:ext>
            </a:extLst>
          </p:cNvPr>
          <p:cNvSpPr txBox="1"/>
          <p:nvPr/>
        </p:nvSpPr>
        <p:spPr>
          <a:xfrm>
            <a:off x="1362974" y="569343"/>
            <a:ext cx="3165894"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Waterfall Model</a:t>
            </a:r>
          </a:p>
        </p:txBody>
      </p:sp>
      <p:sp>
        <p:nvSpPr>
          <p:cNvPr id="4" name="TextBox 3">
            <a:extLst>
              <a:ext uri="{FF2B5EF4-FFF2-40B4-BE49-F238E27FC236}">
                <a16:creationId xmlns:a16="http://schemas.microsoft.com/office/drawing/2014/main" id="{BB15B59F-4A7F-93EA-8F38-E9685AEC0B64}"/>
              </a:ext>
            </a:extLst>
          </p:cNvPr>
          <p:cNvSpPr txBox="1"/>
          <p:nvPr/>
        </p:nvSpPr>
        <p:spPr>
          <a:xfrm>
            <a:off x="1362974" y="1328468"/>
            <a:ext cx="8429487" cy="1200329"/>
          </a:xfrm>
          <a:prstGeom prst="rect">
            <a:avLst/>
          </a:prstGeom>
          <a:noFill/>
        </p:spPr>
        <p:txBody>
          <a:bodyPr wrap="none" rtlCol="0">
            <a:spAutoFit/>
          </a:bodyPr>
          <a:lstStyle/>
          <a:p>
            <a:r>
              <a:rPr lang="en-US" dirty="0"/>
              <a:t>“Waterfall methodology is a well-established project management workflow. </a:t>
            </a:r>
          </a:p>
          <a:p>
            <a:r>
              <a:rPr lang="en-US" dirty="0"/>
              <a:t>Like a waterfall, each process phase cascades downward sequentially through </a:t>
            </a:r>
          </a:p>
          <a:p>
            <a:r>
              <a:rPr lang="en-US" dirty="0"/>
              <a:t>five stages (requirements, design, implementation, verification, and maintenance)”</a:t>
            </a:r>
          </a:p>
          <a:p>
            <a:r>
              <a:rPr lang="en-US" dirty="0"/>
              <a:t>(Atlassian).</a:t>
            </a:r>
          </a:p>
        </p:txBody>
      </p:sp>
      <p:sp>
        <p:nvSpPr>
          <p:cNvPr id="5" name="TextBox 4">
            <a:extLst>
              <a:ext uri="{FF2B5EF4-FFF2-40B4-BE49-F238E27FC236}">
                <a16:creationId xmlns:a16="http://schemas.microsoft.com/office/drawing/2014/main" id="{BD51B2F3-13A6-DC62-0FBC-B4A882B083EF}"/>
              </a:ext>
            </a:extLst>
          </p:cNvPr>
          <p:cNvSpPr txBox="1"/>
          <p:nvPr/>
        </p:nvSpPr>
        <p:spPr>
          <a:xfrm>
            <a:off x="4435415" y="2928668"/>
            <a:ext cx="3321170" cy="369332"/>
          </a:xfrm>
          <a:prstGeom prst="rect">
            <a:avLst/>
          </a:prstGeom>
          <a:noFill/>
        </p:spPr>
        <p:txBody>
          <a:bodyPr wrap="square" rtlCol="0">
            <a:spAutoFit/>
          </a:bodyPr>
          <a:lstStyle/>
          <a:p>
            <a:r>
              <a:rPr lang="en-US" dirty="0"/>
              <a:t>Differences in Agile Vs Waterfall</a:t>
            </a:r>
          </a:p>
        </p:txBody>
      </p:sp>
      <p:graphicFrame>
        <p:nvGraphicFramePr>
          <p:cNvPr id="6" name="Table 5">
            <a:extLst>
              <a:ext uri="{FF2B5EF4-FFF2-40B4-BE49-F238E27FC236}">
                <a16:creationId xmlns:a16="http://schemas.microsoft.com/office/drawing/2014/main" id="{306D444E-4A95-1534-538F-677103FAA3EE}"/>
              </a:ext>
            </a:extLst>
          </p:cNvPr>
          <p:cNvGraphicFramePr>
            <a:graphicFrameLocks noGrp="1"/>
          </p:cNvGraphicFramePr>
          <p:nvPr>
            <p:extLst>
              <p:ext uri="{D42A27DB-BD31-4B8C-83A1-F6EECF244321}">
                <p14:modId xmlns:p14="http://schemas.microsoft.com/office/powerpoint/2010/main" val="574556593"/>
              </p:ext>
            </p:extLst>
          </p:nvPr>
        </p:nvGraphicFramePr>
        <p:xfrm>
          <a:off x="1134852" y="3560001"/>
          <a:ext cx="3868468" cy="2108200"/>
        </p:xfrm>
        <a:graphic>
          <a:graphicData uri="http://schemas.openxmlformats.org/drawingml/2006/table">
            <a:tbl>
              <a:tblPr firstRow="1" bandRow="1">
                <a:tableStyleId>{5C22544A-7EE6-4342-B048-85BDC9FD1C3A}</a:tableStyleId>
              </a:tblPr>
              <a:tblGrid>
                <a:gridCol w="3868468">
                  <a:extLst>
                    <a:ext uri="{9D8B030D-6E8A-4147-A177-3AD203B41FA5}">
                      <a16:colId xmlns:a16="http://schemas.microsoft.com/office/drawing/2014/main" val="1317162682"/>
                    </a:ext>
                  </a:extLst>
                </a:gridCol>
              </a:tblGrid>
              <a:tr h="370840">
                <a:tc>
                  <a:txBody>
                    <a:bodyPr/>
                    <a:lstStyle/>
                    <a:p>
                      <a:pPr algn="ctr"/>
                      <a:r>
                        <a:rPr lang="en-US" dirty="0"/>
                        <a:t>Agile</a:t>
                      </a:r>
                    </a:p>
                  </a:txBody>
                  <a:tcPr/>
                </a:tc>
                <a:extLst>
                  <a:ext uri="{0D108BD9-81ED-4DB2-BD59-A6C34878D82A}">
                    <a16:rowId xmlns:a16="http://schemas.microsoft.com/office/drawing/2014/main" val="2488289153"/>
                  </a:ext>
                </a:extLst>
              </a:tr>
              <a:tr h="370840">
                <a:tc>
                  <a:txBody>
                    <a:bodyPr/>
                    <a:lstStyle/>
                    <a:p>
                      <a:r>
                        <a:rPr lang="en-US" dirty="0"/>
                        <a:t>Agile is more capable to adapt to changes. Requests from the stakeholders will be easier to implement or adjust because of the incremental nature of the agile framework.</a:t>
                      </a:r>
                    </a:p>
                  </a:txBody>
                  <a:tcPr/>
                </a:tc>
                <a:extLst>
                  <a:ext uri="{0D108BD9-81ED-4DB2-BD59-A6C34878D82A}">
                    <a16:rowId xmlns:a16="http://schemas.microsoft.com/office/drawing/2014/main" val="204747259"/>
                  </a:ext>
                </a:extLst>
              </a:tr>
            </a:tbl>
          </a:graphicData>
        </a:graphic>
      </p:graphicFrame>
      <p:graphicFrame>
        <p:nvGraphicFramePr>
          <p:cNvPr id="7" name="Table 6">
            <a:extLst>
              <a:ext uri="{FF2B5EF4-FFF2-40B4-BE49-F238E27FC236}">
                <a16:creationId xmlns:a16="http://schemas.microsoft.com/office/drawing/2014/main" id="{D52F8B41-CDD6-BE61-E149-FFEC75B5D72A}"/>
              </a:ext>
            </a:extLst>
          </p:cNvPr>
          <p:cNvGraphicFramePr>
            <a:graphicFrameLocks noGrp="1"/>
          </p:cNvGraphicFramePr>
          <p:nvPr>
            <p:extLst>
              <p:ext uri="{D42A27DB-BD31-4B8C-83A1-F6EECF244321}">
                <p14:modId xmlns:p14="http://schemas.microsoft.com/office/powerpoint/2010/main" val="1836101991"/>
              </p:ext>
            </p:extLst>
          </p:nvPr>
        </p:nvGraphicFramePr>
        <p:xfrm>
          <a:off x="6903049" y="3560001"/>
          <a:ext cx="3868468" cy="1833880"/>
        </p:xfrm>
        <a:graphic>
          <a:graphicData uri="http://schemas.openxmlformats.org/drawingml/2006/table">
            <a:tbl>
              <a:tblPr firstRow="1" bandRow="1">
                <a:tableStyleId>{5C22544A-7EE6-4342-B048-85BDC9FD1C3A}</a:tableStyleId>
              </a:tblPr>
              <a:tblGrid>
                <a:gridCol w="3868468">
                  <a:extLst>
                    <a:ext uri="{9D8B030D-6E8A-4147-A177-3AD203B41FA5}">
                      <a16:colId xmlns:a16="http://schemas.microsoft.com/office/drawing/2014/main" val="1317162682"/>
                    </a:ext>
                  </a:extLst>
                </a:gridCol>
              </a:tblGrid>
              <a:tr h="370840">
                <a:tc>
                  <a:txBody>
                    <a:bodyPr/>
                    <a:lstStyle/>
                    <a:p>
                      <a:pPr algn="ctr"/>
                      <a:r>
                        <a:rPr lang="en-US" dirty="0"/>
                        <a:t>Waterfall</a:t>
                      </a:r>
                    </a:p>
                  </a:txBody>
                  <a:tcPr/>
                </a:tc>
                <a:extLst>
                  <a:ext uri="{0D108BD9-81ED-4DB2-BD59-A6C34878D82A}">
                    <a16:rowId xmlns:a16="http://schemas.microsoft.com/office/drawing/2014/main" val="2488289153"/>
                  </a:ext>
                </a:extLst>
              </a:tr>
              <a:tr h="370840">
                <a:tc>
                  <a:txBody>
                    <a:bodyPr/>
                    <a:lstStyle/>
                    <a:p>
                      <a:r>
                        <a:rPr lang="en-US" dirty="0"/>
                        <a:t>Once a team has moved on to the next process, they can’t address bugs or technical changes from previous phases. There is no flexibility.</a:t>
                      </a:r>
                    </a:p>
                  </a:txBody>
                  <a:tcPr/>
                </a:tc>
                <a:extLst>
                  <a:ext uri="{0D108BD9-81ED-4DB2-BD59-A6C34878D82A}">
                    <a16:rowId xmlns:a16="http://schemas.microsoft.com/office/drawing/2014/main" val="204747259"/>
                  </a:ext>
                </a:extLst>
              </a:tr>
            </a:tbl>
          </a:graphicData>
        </a:graphic>
      </p:graphicFrame>
    </p:spTree>
    <p:extLst>
      <p:ext uri="{BB962C8B-B14F-4D97-AF65-F5344CB8AC3E}">
        <p14:creationId xmlns:p14="http://schemas.microsoft.com/office/powerpoint/2010/main" val="2090089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06386C-8272-EC72-885D-EED9C9049FE6}"/>
              </a:ext>
            </a:extLst>
          </p:cNvPr>
          <p:cNvSpPr txBox="1"/>
          <p:nvPr/>
        </p:nvSpPr>
        <p:spPr>
          <a:xfrm>
            <a:off x="664234" y="621102"/>
            <a:ext cx="377837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Final Thoughts…</a:t>
            </a:r>
          </a:p>
        </p:txBody>
      </p:sp>
      <p:sp>
        <p:nvSpPr>
          <p:cNvPr id="3" name="TextBox 2">
            <a:extLst>
              <a:ext uri="{FF2B5EF4-FFF2-40B4-BE49-F238E27FC236}">
                <a16:creationId xmlns:a16="http://schemas.microsoft.com/office/drawing/2014/main" id="{77AFF00F-4228-E16C-EDF9-7614B7A8E7D0}"/>
              </a:ext>
            </a:extLst>
          </p:cNvPr>
          <p:cNvSpPr txBox="1"/>
          <p:nvPr/>
        </p:nvSpPr>
        <p:spPr>
          <a:xfrm>
            <a:off x="1362974" y="1958195"/>
            <a:ext cx="9402792" cy="1754326"/>
          </a:xfrm>
          <a:prstGeom prst="rect">
            <a:avLst/>
          </a:prstGeom>
          <a:noFill/>
        </p:spPr>
        <p:txBody>
          <a:bodyPr wrap="square" rtlCol="0">
            <a:spAutoFit/>
          </a:bodyPr>
          <a:lstStyle/>
          <a:p>
            <a:r>
              <a:rPr lang="en-US" dirty="0"/>
              <a:t>Neither agile nor waterfall are outright better than the other. It all comes down to the project and the situation. If it’s a smaller project or one that is highly structured and requires clear phases, with a strong emphasis on planning in the beginning, then waterfall is the one you would want. If you need to be more flexible in your development process, allowing for changes in design and customer needs, then agile is the one you should use. Both have their merits and both have their issues.</a:t>
            </a:r>
          </a:p>
        </p:txBody>
      </p:sp>
    </p:spTree>
    <p:extLst>
      <p:ext uri="{BB962C8B-B14F-4D97-AF65-F5344CB8AC3E}">
        <p14:creationId xmlns:p14="http://schemas.microsoft.com/office/powerpoint/2010/main" val="1050144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F2A199-E305-7329-2669-A28E8AEC7462}"/>
              </a:ext>
            </a:extLst>
          </p:cNvPr>
          <p:cNvSpPr txBox="1"/>
          <p:nvPr/>
        </p:nvSpPr>
        <p:spPr>
          <a:xfrm>
            <a:off x="5133975" y="314325"/>
            <a:ext cx="474345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Citations:</a:t>
            </a:r>
          </a:p>
        </p:txBody>
      </p:sp>
      <p:sp>
        <p:nvSpPr>
          <p:cNvPr id="4" name="TextBox 3">
            <a:extLst>
              <a:ext uri="{FF2B5EF4-FFF2-40B4-BE49-F238E27FC236}">
                <a16:creationId xmlns:a16="http://schemas.microsoft.com/office/drawing/2014/main" id="{915F8DF1-67F7-5DCF-E52D-AECE50A7474D}"/>
              </a:ext>
            </a:extLst>
          </p:cNvPr>
          <p:cNvSpPr txBox="1"/>
          <p:nvPr/>
        </p:nvSpPr>
        <p:spPr>
          <a:xfrm>
            <a:off x="1242204" y="1250830"/>
            <a:ext cx="9316528" cy="4555093"/>
          </a:xfrm>
          <a:prstGeom prst="rect">
            <a:avLst/>
          </a:prstGeom>
          <a:noFill/>
        </p:spPr>
        <p:txBody>
          <a:bodyPr wrap="square" rtlCol="0">
            <a:spAutoFit/>
          </a:bodyPr>
          <a:lstStyle/>
          <a:p>
            <a:r>
              <a:rPr lang="en-US" sz="1600" b="0" i="0" dirty="0">
                <a:solidFill>
                  <a:srgbClr val="1B1B1B"/>
                </a:solidFill>
                <a:effectLst/>
                <a:latin typeface="Times New Roman" panose="02020603050405020304" pitchFamily="18" charset="0"/>
                <a:cs typeface="Times New Roman" panose="02020603050405020304" pitchFamily="18" charset="0"/>
              </a:rPr>
              <a:t>Alami A, </a:t>
            </a:r>
            <a:r>
              <a:rPr lang="en-US" sz="1600" b="0" i="0" dirty="0" err="1">
                <a:solidFill>
                  <a:srgbClr val="1B1B1B"/>
                </a:solidFill>
                <a:effectLst/>
                <a:latin typeface="Times New Roman" panose="02020603050405020304" pitchFamily="18" charset="0"/>
                <a:cs typeface="Times New Roman" panose="02020603050405020304" pitchFamily="18" charset="0"/>
              </a:rPr>
              <a:t>Krancher</a:t>
            </a:r>
            <a:r>
              <a:rPr lang="en-US" sz="1600" b="0" i="0" dirty="0">
                <a:solidFill>
                  <a:srgbClr val="1B1B1B"/>
                </a:solidFill>
                <a:effectLst/>
                <a:latin typeface="Times New Roman" panose="02020603050405020304" pitchFamily="18" charset="0"/>
                <a:cs typeface="Times New Roman" panose="02020603050405020304" pitchFamily="18" charset="0"/>
              </a:rPr>
              <a:t> O. How Scrum adds value to achieving software quality? </a:t>
            </a:r>
            <a:r>
              <a:rPr lang="en-US" sz="1600" b="0" i="0" dirty="0" err="1">
                <a:solidFill>
                  <a:srgbClr val="1B1B1B"/>
                </a:solidFill>
                <a:effectLst/>
                <a:latin typeface="Times New Roman" panose="02020603050405020304" pitchFamily="18" charset="0"/>
                <a:cs typeface="Times New Roman" panose="02020603050405020304" pitchFamily="18" charset="0"/>
              </a:rPr>
              <a:t>Empir</a:t>
            </a:r>
            <a:r>
              <a:rPr lang="en-US" sz="1600" b="0" i="0" dirty="0">
                <a:solidFill>
                  <a:srgbClr val="1B1B1B"/>
                </a:solidFill>
                <a:effectLst/>
                <a:latin typeface="Times New Roman" panose="02020603050405020304" pitchFamily="18" charset="0"/>
                <a:cs typeface="Times New Roman" panose="02020603050405020304" pitchFamily="18" charset="0"/>
              </a:rPr>
              <a:t> </a:t>
            </a:r>
            <a:r>
              <a:rPr lang="en-US" sz="1600" b="0" i="0" dirty="0" err="1">
                <a:solidFill>
                  <a:srgbClr val="1B1B1B"/>
                </a:solidFill>
                <a:effectLst/>
                <a:latin typeface="Times New Roman" panose="02020603050405020304" pitchFamily="18" charset="0"/>
                <a:cs typeface="Times New Roman" panose="02020603050405020304" pitchFamily="18" charset="0"/>
              </a:rPr>
              <a:t>Softw</a:t>
            </a:r>
            <a:r>
              <a:rPr lang="en-US" sz="1600" b="0" i="0" dirty="0">
                <a:solidFill>
                  <a:srgbClr val="1B1B1B"/>
                </a:solidFill>
                <a:effectLst/>
                <a:latin typeface="Times New Roman" panose="02020603050405020304" pitchFamily="18" charset="0"/>
                <a:cs typeface="Times New Roman" panose="02020603050405020304" pitchFamily="18" charset="0"/>
              </a:rPr>
              <a:t> Eng. 	2022;27(7):165. </a:t>
            </a:r>
            <a:r>
              <a:rPr lang="en-US" sz="1600" b="0" i="0" dirty="0" err="1">
                <a:solidFill>
                  <a:srgbClr val="1B1B1B"/>
                </a:solidFill>
                <a:effectLst/>
                <a:latin typeface="Times New Roman" panose="02020603050405020304" pitchFamily="18" charset="0"/>
                <a:cs typeface="Times New Roman" panose="02020603050405020304" pitchFamily="18" charset="0"/>
              </a:rPr>
              <a:t>doi</a:t>
            </a:r>
            <a:r>
              <a:rPr lang="en-US" sz="1600" b="0" i="0" dirty="0">
                <a:solidFill>
                  <a:srgbClr val="1B1B1B"/>
                </a:solidFill>
                <a:effectLst/>
                <a:latin typeface="Times New Roman" panose="02020603050405020304" pitchFamily="18" charset="0"/>
                <a:cs typeface="Times New Roman" panose="02020603050405020304" pitchFamily="18" charset="0"/>
              </a:rPr>
              <a:t>: 10.1007/s10664-022-10208-4. </a:t>
            </a:r>
            <a:r>
              <a:rPr lang="en-US" sz="1600" b="0" i="0" dirty="0" err="1">
                <a:solidFill>
                  <a:srgbClr val="1B1B1B"/>
                </a:solidFill>
                <a:effectLst/>
                <a:latin typeface="Times New Roman" panose="02020603050405020304" pitchFamily="18" charset="0"/>
                <a:cs typeface="Times New Roman" panose="02020603050405020304" pitchFamily="18" charset="0"/>
              </a:rPr>
              <a:t>Epub</a:t>
            </a:r>
            <a:r>
              <a:rPr lang="en-US" sz="1600" b="0" i="0" dirty="0">
                <a:solidFill>
                  <a:srgbClr val="1B1B1B"/>
                </a:solidFill>
                <a:effectLst/>
                <a:latin typeface="Times New Roman" panose="02020603050405020304" pitchFamily="18" charset="0"/>
                <a:cs typeface="Times New Roman" panose="02020603050405020304" pitchFamily="18" charset="0"/>
              </a:rPr>
              <a:t> 2022 Sep 20. PMID: 36159897; 	PMCID: PMC9486782.</a:t>
            </a:r>
          </a:p>
          <a:p>
            <a:endParaRPr lang="en-US" sz="1600" dirty="0">
              <a:solidFill>
                <a:srgbClr val="1B1B1B"/>
              </a:solidFill>
              <a:latin typeface="Times New Roman" panose="02020603050405020304" pitchFamily="18" charset="0"/>
              <a:cs typeface="Times New Roman" panose="02020603050405020304" pitchFamily="18" charset="0"/>
            </a:endParaRPr>
          </a:p>
          <a:p>
            <a:r>
              <a:rPr lang="en-US" sz="1600" b="0" i="0" dirty="0">
                <a:solidFill>
                  <a:srgbClr val="05103E"/>
                </a:solidFill>
                <a:effectLst/>
                <a:latin typeface="Times New Roman" panose="02020603050405020304" pitchFamily="18" charset="0"/>
                <a:cs typeface="Times New Roman" panose="02020603050405020304" pitchFamily="18" charset="0"/>
              </a:rPr>
              <a:t>Atlassian, B. (n.d.-b). </a:t>
            </a:r>
            <a:r>
              <a:rPr lang="en-US" sz="1600" b="0" i="1" dirty="0">
                <a:solidFill>
                  <a:srgbClr val="05103E"/>
                </a:solidFill>
                <a:effectLst/>
                <a:latin typeface="Times New Roman" panose="02020603050405020304" pitchFamily="18" charset="0"/>
                <a:cs typeface="Times New Roman" panose="02020603050405020304" pitchFamily="18" charset="0"/>
              </a:rPr>
              <a:t>Waterfall Methodology for Project Management | Atlassian</a:t>
            </a:r>
            <a:r>
              <a:rPr lang="en-US" sz="1600" b="0" i="0" dirty="0">
                <a:solidFill>
                  <a:srgbClr val="05103E"/>
                </a:solidFill>
                <a:effectLst/>
                <a:latin typeface="Times New Roman" panose="02020603050405020304" pitchFamily="18" charset="0"/>
                <a:cs typeface="Times New Roman" panose="02020603050405020304" pitchFamily="18" charset="0"/>
              </a:rPr>
              <a:t>. 	Atlassian. https://www.atlassian.com/agile/project-management/waterfall-methodology</a:t>
            </a:r>
            <a:endParaRPr lang="en-US" sz="1600" b="0" i="0" dirty="0">
              <a:solidFill>
                <a:srgbClr val="1B1B1B"/>
              </a:solidFill>
              <a:effectLst/>
              <a:latin typeface="Times New Roman" panose="02020603050405020304" pitchFamily="18" charset="0"/>
              <a:cs typeface="Times New Roman" panose="02020603050405020304" pitchFamily="18" charset="0"/>
            </a:endParaRPr>
          </a:p>
          <a:p>
            <a:endParaRPr lang="en-US" sz="1600" b="0" i="0" dirty="0">
              <a:solidFill>
                <a:srgbClr val="05103E"/>
              </a:solidFill>
              <a:effectLst/>
              <a:latin typeface="Times New Roman" panose="02020603050405020304" pitchFamily="18" charset="0"/>
              <a:cs typeface="Times New Roman" panose="02020603050405020304" pitchFamily="18" charset="0"/>
            </a:endParaRPr>
          </a:p>
          <a:p>
            <a:r>
              <a:rPr lang="en-US" sz="1600" b="0" i="0" dirty="0">
                <a:solidFill>
                  <a:srgbClr val="05103E"/>
                </a:solidFill>
                <a:effectLst/>
                <a:latin typeface="Times New Roman" panose="02020603050405020304" pitchFamily="18" charset="0"/>
                <a:cs typeface="Times New Roman" panose="02020603050405020304" pitchFamily="18" charset="0"/>
              </a:rPr>
              <a:t>Donato, H., &amp; Donato, H. (2023, November 13). What are the phases of 	scrum?  </a:t>
            </a:r>
            <a:r>
              <a:rPr lang="en-US" sz="1600" b="0" i="1" dirty="0" err="1">
                <a:solidFill>
                  <a:srgbClr val="05103E"/>
                </a:solidFill>
                <a:effectLst/>
                <a:latin typeface="Times New Roman" panose="02020603050405020304" pitchFamily="18" charset="0"/>
                <a:cs typeface="Times New Roman" panose="02020603050405020304" pitchFamily="18" charset="0"/>
              </a:rPr>
              <a:t>Workamajig</a:t>
            </a:r>
            <a:r>
              <a:rPr lang="en-US" sz="1600" b="0" i="0" dirty="0">
                <a:solidFill>
                  <a:srgbClr val="05103E"/>
                </a:solidFill>
                <a:effectLst/>
                <a:latin typeface="Times New Roman" panose="02020603050405020304" pitchFamily="18" charset="0"/>
                <a:cs typeface="Times New Roman" panose="02020603050405020304" pitchFamily="18" charset="0"/>
              </a:rPr>
              <a:t>. https://www.workamajig.com/blog/scrum-methodology-	guide/scrum-phases</a:t>
            </a:r>
          </a:p>
          <a:p>
            <a:endParaRPr lang="en-US" sz="1600" dirty="0">
              <a:solidFill>
                <a:srgbClr val="05103E"/>
              </a:solidFill>
              <a:latin typeface="Times New Roman" panose="02020603050405020304" pitchFamily="18" charset="0"/>
              <a:cs typeface="Times New Roman" panose="02020603050405020304" pitchFamily="18" charset="0"/>
            </a:endParaRPr>
          </a:p>
          <a:p>
            <a:r>
              <a:rPr lang="en-US" sz="1600" b="0" i="0" dirty="0" err="1">
                <a:solidFill>
                  <a:srgbClr val="05103E"/>
                </a:solidFill>
                <a:effectLst/>
                <a:latin typeface="Times New Roman" panose="02020603050405020304" pitchFamily="18" charset="0"/>
                <a:cs typeface="Times New Roman" panose="02020603050405020304" pitchFamily="18" charset="0"/>
              </a:rPr>
              <a:t>Ekechi</a:t>
            </a:r>
            <a:r>
              <a:rPr lang="en-US" sz="1600" b="0" i="0" dirty="0">
                <a:solidFill>
                  <a:srgbClr val="05103E"/>
                </a:solidFill>
                <a:effectLst/>
                <a:latin typeface="Times New Roman" panose="02020603050405020304" pitchFamily="18" charset="0"/>
                <a:cs typeface="Times New Roman" panose="02020603050405020304" pitchFamily="18" charset="0"/>
              </a:rPr>
              <a:t>, N. C. C., Okeke, N. C. D., &amp; Adama, N. H. E. (2024). Enhancing agile product 	development with 	scrum methodologies: A detailed exploration of implementation 	practices and 	benefits. </a:t>
            </a:r>
            <a:r>
              <a:rPr lang="en-US" sz="1600" b="0" i="1" dirty="0">
                <a:solidFill>
                  <a:srgbClr val="05103E"/>
                </a:solidFill>
                <a:effectLst/>
                <a:latin typeface="Times New Roman" panose="02020603050405020304" pitchFamily="18" charset="0"/>
                <a:cs typeface="Times New Roman" panose="02020603050405020304" pitchFamily="18" charset="0"/>
              </a:rPr>
              <a:t>Engineering Science &amp; Technology Journal</a:t>
            </a:r>
            <a:r>
              <a:rPr lang="en-US" sz="1600" b="0" i="0" dirty="0">
                <a:solidFill>
                  <a:srgbClr val="05103E"/>
                </a:solidFill>
                <a:effectLst/>
                <a:latin typeface="Times New Roman" panose="02020603050405020304" pitchFamily="18" charset="0"/>
                <a:cs typeface="Times New Roman" panose="02020603050405020304" pitchFamily="18" charset="0"/>
              </a:rPr>
              <a:t>, </a:t>
            </a:r>
            <a:r>
              <a:rPr lang="en-US" sz="1600" b="0" i="1" dirty="0">
                <a:solidFill>
                  <a:srgbClr val="05103E"/>
                </a:solidFill>
                <a:effectLst/>
                <a:latin typeface="Times New Roman" panose="02020603050405020304" pitchFamily="18" charset="0"/>
                <a:cs typeface="Times New Roman" panose="02020603050405020304" pitchFamily="18" charset="0"/>
              </a:rPr>
              <a:t>5</a:t>
            </a:r>
            <a:r>
              <a:rPr lang="en-US" sz="1600" b="0" i="0" dirty="0">
                <a:solidFill>
                  <a:srgbClr val="05103E"/>
                </a:solidFill>
                <a:effectLst/>
                <a:latin typeface="Times New Roman" panose="02020603050405020304" pitchFamily="18" charset="0"/>
                <a:cs typeface="Times New Roman" panose="02020603050405020304" pitchFamily="18" charset="0"/>
              </a:rPr>
              <a:t>(5), 1542–	1570. https://doi.org/10.51594/estj.v5i5.1108</a:t>
            </a:r>
          </a:p>
          <a:p>
            <a:endParaRPr lang="en-US" sz="1600" dirty="0">
              <a:solidFill>
                <a:srgbClr val="333333"/>
              </a:solidFill>
              <a:latin typeface="Times New Roman" panose="02020603050405020304" pitchFamily="18" charset="0"/>
              <a:cs typeface="Times New Roman" panose="02020603050405020304" pitchFamily="18" charset="0"/>
            </a:endParaRPr>
          </a:p>
          <a:p>
            <a:r>
              <a:rPr lang="en-US" sz="1600" b="0" i="0" dirty="0" err="1">
                <a:solidFill>
                  <a:srgbClr val="05103E"/>
                </a:solidFill>
                <a:effectLst/>
                <a:latin typeface="Times New Roman" panose="02020603050405020304" pitchFamily="18" charset="0"/>
                <a:cs typeface="Times New Roman" panose="02020603050405020304" pitchFamily="18" charset="0"/>
              </a:rPr>
              <a:t>Schwaber</a:t>
            </a:r>
            <a:r>
              <a:rPr lang="en-US" sz="1600" b="0" i="0" dirty="0">
                <a:solidFill>
                  <a:srgbClr val="05103E"/>
                </a:solidFill>
                <a:effectLst/>
                <a:latin typeface="Times New Roman" panose="02020603050405020304" pitchFamily="18" charset="0"/>
                <a:cs typeface="Times New Roman" panose="02020603050405020304" pitchFamily="18" charset="0"/>
              </a:rPr>
              <a:t>, K., &amp; Sutherland, J. (2020, November). </a:t>
            </a:r>
            <a:r>
              <a:rPr lang="en-US" sz="1600" b="0" i="1" dirty="0">
                <a:solidFill>
                  <a:srgbClr val="05103E"/>
                </a:solidFill>
                <a:effectLst/>
                <a:latin typeface="Times New Roman" panose="02020603050405020304" pitchFamily="18" charset="0"/>
                <a:cs typeface="Times New Roman" panose="02020603050405020304" pitchFamily="18" charset="0"/>
              </a:rPr>
              <a:t>The Scrum Guide The Definitive Guide to scrum: the rules 	of the game</a:t>
            </a:r>
            <a:r>
              <a:rPr lang="en-US" sz="1600" b="0" i="0" dirty="0">
                <a:solidFill>
                  <a:srgbClr val="05103E"/>
                </a:solidFill>
                <a:effectLst/>
                <a:latin typeface="Times New Roman" panose="02020603050405020304" pitchFamily="18" charset="0"/>
                <a:cs typeface="Times New Roman" panose="02020603050405020304" pitchFamily="18" charset="0"/>
              </a:rPr>
              <a:t>. Scrum Guides. https://scrumguides.org/scrum-guide.html</a:t>
            </a:r>
            <a:endParaRPr lang="en-US" sz="1600" b="0" i="0" dirty="0">
              <a:solidFill>
                <a:srgbClr val="333333"/>
              </a:solidFill>
              <a:effectLst/>
              <a:latin typeface="Times New Roman" panose="02020603050405020304" pitchFamily="18" charset="0"/>
              <a:cs typeface="Times New Roman" panose="02020603050405020304" pitchFamily="18" charset="0"/>
            </a:endParaRPr>
          </a:p>
          <a:p>
            <a:endParaRPr lang="en-US" dirty="0">
              <a:solidFill>
                <a:srgbClr val="333333"/>
              </a:solidFill>
              <a:latin typeface="open sans" panose="020B0606030504020204" pitchFamily="34" charset="0"/>
            </a:endParaRPr>
          </a:p>
        </p:txBody>
      </p:sp>
    </p:spTree>
    <p:extLst>
      <p:ext uri="{BB962C8B-B14F-4D97-AF65-F5344CB8AC3E}">
        <p14:creationId xmlns:p14="http://schemas.microsoft.com/office/powerpoint/2010/main" val="2728291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781</Words>
  <Application>Microsoft Office PowerPoint</Application>
  <PresentationFormat>Widescreen</PresentationFormat>
  <Paragraphs>58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Open Sans</vt:lpstr>
      <vt:lpstr>Times New Roman</vt:lpstr>
      <vt:lpstr>Office Theme</vt:lpstr>
      <vt:lpstr>Scrum-Agile and you..</vt:lpstr>
      <vt:lpstr>Introduction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Fitzpatrick, Sean</dc:creator>
  <cp:lastModifiedBy>Fitzpatrick, Sean</cp:lastModifiedBy>
  <cp:revision>5</cp:revision>
  <dcterms:created xsi:type="dcterms:W3CDTF">2025-02-22T17:30:57Z</dcterms:created>
  <dcterms:modified xsi:type="dcterms:W3CDTF">2025-02-22T18:44:35Z</dcterms:modified>
</cp:coreProperties>
</file>